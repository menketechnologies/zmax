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49960c83-e64a-4700-3f3e-858036c7d57d}">
          <p14:sldIdLst>
            <p14:sldId id="256"/>
            <p14:sldId id="257"/>
            <p14:sldId id="258"/>
          </p14:sldIdLst>
        </p14:section>
        <p14:section name="Goal" id="{8f692ca9-7759-29e8-f119-e64da9ff5ce1}">
          <p14:sldIdLst>
            <p14:sldId id="259"/>
            <p14:sldId id="260"/>
            <p14:sldId id="261"/>
            <p14:sldId id="262"/>
          </p14:sldIdLst>
        </p14:section>
        <p14:section name="Power" id="{10e96294-ecbe-fde3-11b6-951087fa9819}">
          <p14:sldIdLst>
            <p14:sldId id="263"/>
            <p14:sldId id="264"/>
            <p14:sldId id="265"/>
            <p14:sldId id="266"/>
            <p14:sldId id="267"/>
            <p14:sldId id="273"/>
            <p14:sldId id="274"/>
            <p14:sldId id="275"/>
          </p14:sldIdLst>
        </p14:section>
        <p14:section name="Scripting" id="{cc84525e-d24d-997c-9811-6936ecd34ef6}">
          <p14:sldIdLst>
            <p14:sldId id="268"/>
            <p14:sldId id="269"/>
            <p14:sldId id="270"/>
          </p14:sldIdLst>
        </p14:section>
        <p14:section name="Measured" id="{94977551-673e-701d-522e-e63064755afd}">
          <p14:sldIdLst>
            <p14:sldId id="271"/>
            <p14:sldId id="272"/>
            <p14:sldId id="276"/>
            <p14:sldId id="277"/>
          </p14:sldIdLst>
        </p14:section>
        <p14:section name="Take-away" id="{cc037c88-515c-6f4d-8f83-603ba51ace11}">
          <p14:sldIdLst>
            <p14:sldId id="278"/>
            <p14:sldId id="279"/>
            <p14:sldId id="280"/>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presentation about zmax: a modal IDE in Rust forked from Helix, aimed at maximum power with zero configuration. The install is on slide 3 and repeats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goal and its four pillars, then what ships in the binary, the embedded languages, and how coverage is measured honestly.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Homebrew installs the binary. Release builds do not compile grammars, so fetch and build them once. This slide repeats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CLI IDE that is maximally powerful with zero user configuration: install the binary, open a project, and have the full power of a graphical IDE in the terminal, with Spacemacs and JetBrains muscle memory already wired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defaults are the product. Customisation is supported, but the measure of success is how much you can do having configured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Electron, no DOM, no Node. Native-compiled Rust that runs in an SSH session on a Raspberry Pi as happily as on a workstation.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Selectable with keymap = "..." or :keymap &lt;name&gt; at runtime.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ships in the single static binary and works on first launch.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:Files and :Rg family is arb --fzf running in this process, honouring every FZF_* variable. No fork, no exec and no binary to install.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:github is the forge in nine tabs: CI runs with foldable logs, workflows, pull requests, issues, releases, branches, commits and notifications.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Panels for tasks that usually mean leaving the editor.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Arduino and PlatformIO workflows driven through arduino-cli and pio, with per-project settings in embedded.toml.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world first claimed by the README: twelve scripting interpreters embedded with zero external dependencies and no FFI between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:xpipe chains languages over a selection with no fork, no execve and no pipe file descriptors. One undo step covers the whole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Compiled Rust cdylibs load at runtime over a versioned C ABI. A built-in package manager installs them from a repo into a SHA-256 pinned 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port report measures zmax against the cited feature inventories of Vim, Neovim, Emacs, Spacemacs, kakoune, vis, sam, ed, nvi, vile, mg, nano, micro, mcedit, ne, dte, distributions, fzf.vim and JetBrains.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vision document refuses to claim parity it has not proven.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Selection then action, from Kakoune through Helix, with vim operator emulation, surround, textobjects and syntax-aware motions.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Workspace trust gates local config and repo git config behind a one-time prompt, in the direnv style, so a cloned repo cannot run code unasked.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 or F2 opens a project tree, a tree-sitter outline, problems and run panels, and an error-stripe minimap, persisted to appdata.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denominator of cited inventories, one curated mapping file, and a generator that re-derives the numerator from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measure counts distinct capabilities once, regardless of how many ancestor editors expose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zmax is a fork of Helix, itself inspired by Kakoune and Neovim. Helix-derived files remain MPL-2.0.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the smallest thing verifiable.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Repost of the install, as promised.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pic>
        <p:nvPicPr>
          <p:cNvPr id="2" name="Image 0" descr="/private/tmp/claude-501/-Users-wizard-RustroverProjects-zshrs/2555d359-9a79-4736-9207-869cc21577b1/scratchpad/zmax_logo/logo-mark.png">    </p:cNvPr>
          <p:cNvPicPr>
            <a:picLocks noChangeAspect="1"/>
          </p:cNvPicPr>
          <p:nvPr/>
        </p:nvPicPr>
        <p:blipFill>
          <a:blip r:embed="rId1"/>
          <a:stretch>
            <a:fillRect/>
          </a:stretch>
        </p:blipFill>
        <p:spPr>
          <a:xfrm>
            <a:off x="11384280" y="411480"/>
            <a:ext cx="502920" cy="502920"/>
          </a:xfrm>
          <a:prstGeom prst="rect">
            <a:avLst/>
          </a:prstGeom>
        </p:spPr>
      </p:pic>
      <p:sp>
        <p:nvSpPr>
          <p:cNvPr id="3" name="Text 0"/>
          <p:cNvSpPr/>
          <p:nvPr>
            <p:ph idx="101" type="title" hasCustomPrompt="1"/>
          </p:nvPr>
        </p:nvSpPr>
        <p:spPr>
          <a:xfrm>
            <a:off x="822960" y="457200"/>
            <a:ext cx="10515600" cy="914400"/>
          </a:xfrm>
          <a:prstGeom prst="rect">
            <a:avLst/>
          </a:prstGeom>
          <a:noFill/>
          <a:ln/>
        </p:spPr>
        <p:txBody>
          <a:bodyPr wrap="square" rtlCol="0"/>
          <a:lstStyle>
            <a:lvl1pPr algn="l" indent="0" marL="0">
              <a:buNone/>
              <a:defRPr lang="en-US" sz="3600" b="1" dirty="0">
                <a:solidFill>
                  <a:schemeClr val="bg2"/>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pic>
        <p:nvPicPr>
          <p:cNvPr id="2" name="Image 0" descr="/private/tmp/claude-501/-Users-wizard-RustroverProjects-zshrs/2555d359-9a79-4736-9207-869cc21577b1/scratchpad/zmax_logo/logo-mark.png">    </p:cNvPr>
          <p:cNvPicPr>
            <a:picLocks noChangeAspect="1"/>
          </p:cNvPicPr>
          <p:nvPr/>
        </p:nvPicPr>
        <p:blipFill>
          <a:blip r:embed="rId1"/>
          <a:stretch>
            <a:fillRect/>
          </a:stretch>
        </p:blipFill>
        <p:spPr>
          <a:xfrm>
            <a:off x="11384280" y="411480"/>
            <a:ext cx="502920" cy="502920"/>
          </a:xfrm>
          <a:prstGeom prst="rect">
            <a:avLst/>
          </a:prstGeom>
        </p:spPr>
      </p:pic>
      <p:sp>
        <p:nvSpPr>
          <p:cNvPr id="3" name="Text 0"/>
          <p:cNvSpPr/>
          <p:nvPr>
            <p:ph idx="101" type="title" hasCustomPrompt="1"/>
          </p:nvPr>
        </p:nvSpPr>
        <p:spPr>
          <a:xfrm>
            <a:off x="822960" y="457200"/>
            <a:ext cx="10515600" cy="914400"/>
          </a:xfrm>
          <a:prstGeom prst="rect">
            <a:avLst/>
          </a:prstGeom>
          <a:noFill/>
          <a:ln/>
        </p:spPr>
        <p:txBody>
          <a:bodyPr wrap="square" rtlCol="0"/>
          <a:lstStyle>
            <a:lvl1pPr algn="l" indent="0" marL="0">
              <a:buNone/>
              <a:defRPr lang="en-US" sz="3600" b="1" dirty="0">
                <a:solidFill>
                  <a:schemeClr val="bg2"/>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ivate/tmp/claude-501/-Users-wizard-RustroverProjects-zshrs/2555d359-9a79-4736-9207-869cc21577b1/scratchpad/zmax_logo/logo-mark.png">    </p:cNvPr>
          <p:cNvPicPr>
            <a:picLocks noChangeAspect="1"/>
          </p:cNvPicPr>
          <p:nvPr/>
        </p:nvPicPr>
        <p:blipFill>
          <a:blip r:embed="rId1"/>
          <a:stretch>
            <a:fillRect/>
          </a:stretch>
        </p:blipFill>
        <p:spPr>
          <a:xfrm>
            <a:off x="822960" y="640080"/>
            <a:ext cx="2011680" cy="2011680"/>
          </a:xfrm>
          <a:prstGeom prst="rect">
            <a:avLst/>
          </a:prstGeom>
        </p:spPr>
      </p:pic>
      <p:sp>
        <p:nvSpPr>
          <p:cNvPr id="4" name="Text 0"/>
          <p:cNvSpPr txBox="1"/>
          <p:nvPr/>
        </p:nvSpPr>
        <p:spPr>
          <a:xfrm>
            <a:off x="3200400" y="822960"/>
            <a:ext cx="7315200" cy="1188720"/>
          </a:xfrm>
          <a:prstGeom prst="rect">
            <a:avLst/>
          </a:prstGeom>
          <a:noFill/>
          <a:ln/>
        </p:spPr>
        <p:txBody>
          <a:bodyPr wrap="square" lIns="0" tIns="0" rIns="0" bIns="0" rtlCol="0" anchor="t"/>
          <a:lstStyle/>
          <a:p>
            <a:pPr indent="0" marL="0">
              <a:buNone/>
            </a:pPr>
            <a:r>
              <a:rPr lang="en-US" sz="6600" b="1" dirty="0">
                <a:solidFill>
                  <a:schemeClr val="bg2"/>
                </a:solidFill>
                <a:latin typeface="Cambria" pitchFamily="34" charset="0"/>
                <a:ea typeface="Cambria" pitchFamily="34" charset="-122"/>
                <a:cs typeface="Cambria" pitchFamily="34" charset="-120"/>
              </a:rPr>
              <a:t>zmax</a:t>
            </a:r>
            <a:endParaRPr lang="en-US" sz="6600" dirty="0"/>
          </a:p>
        </p:txBody>
      </p:sp>
      <p:sp>
        <p:nvSpPr>
          <p:cNvPr id="5" name="Text 1"/>
          <p:cNvSpPr txBox="1"/>
          <p:nvPr/>
        </p:nvSpPr>
        <p:spPr>
          <a:xfrm>
            <a:off x="3200400" y="2103120"/>
            <a:ext cx="8229600" cy="457200"/>
          </a:xfrm>
          <a:prstGeom prst="rect">
            <a:avLst/>
          </a:prstGeom>
          <a:noFill/>
          <a:ln/>
        </p:spPr>
        <p:txBody>
          <a:bodyPr wrap="square" lIns="0" tIns="0" rIns="0" bIns="0" rtlCol="0" anchor="t"/>
          <a:lstStyle/>
          <a:p>
            <a:pPr indent="0" marL="0">
              <a:buNone/>
            </a:pPr>
            <a:r>
              <a:rPr lang="en-US" sz="1800" dirty="0">
                <a:solidFill>
                  <a:schemeClr val="accent1"/>
                </a:solidFill>
                <a:latin typeface="Courier New" pitchFamily="34" charset="0"/>
                <a:ea typeface="Courier New" pitchFamily="34" charset="-122"/>
                <a:cs typeface="Courier New" pitchFamily="34" charset="-120"/>
              </a:rPr>
              <a:t>$ brew install MenkeTechnologies/menketech/zmax</a:t>
            </a:r>
            <a:endParaRPr lang="en-US" sz="1800" dirty="0"/>
          </a:p>
        </p:txBody>
      </p:sp>
      <p:sp>
        <p:nvSpPr>
          <p:cNvPr id="6" name="Text 2"/>
          <p:cNvSpPr txBox="1"/>
          <p:nvPr/>
        </p:nvSpPr>
        <p:spPr>
          <a:xfrm>
            <a:off x="822960" y="3383280"/>
            <a:ext cx="10515600" cy="1280160"/>
          </a:xfrm>
          <a:prstGeom prst="rect">
            <a:avLst/>
          </a:prstGeom>
          <a:noFill/>
          <a:ln/>
        </p:spPr>
        <p:txBody>
          <a:bodyPr wrap="square" lIns="0" tIns="0" rIns="0" bIns="0" rtlCol="0" anchor="t"/>
          <a:lstStyle/>
          <a:p>
            <a:pPr indent="0" marL="0">
              <a:buNone/>
            </a:pPr>
            <a:r>
              <a:rPr lang="en-US" sz="4400" b="1" dirty="0">
                <a:solidFill>
                  <a:schemeClr val="bg2"/>
                </a:solidFill>
                <a:latin typeface="Cambria" pitchFamily="34" charset="0"/>
                <a:ea typeface="Cambria" pitchFamily="34" charset="-122"/>
                <a:cs typeface="Cambria" pitchFamily="34" charset="-120"/>
              </a:rPr>
              <a:t>A CLI IDE that needs no configuration</a:t>
            </a:r>
            <a:endParaRPr lang="en-US" sz="4400" dirty="0"/>
          </a:p>
        </p:txBody>
      </p:sp>
      <p:sp>
        <p:nvSpPr>
          <p:cNvPr id="7" name="Text 3"/>
          <p:cNvSpPr txBox="1"/>
          <p:nvPr/>
        </p:nvSpPr>
        <p:spPr>
          <a:xfrm>
            <a:off x="822960" y="5029200"/>
            <a:ext cx="10058400" cy="548640"/>
          </a:xfrm>
          <a:prstGeom prst="rect">
            <a:avLst/>
          </a:prstGeom>
          <a:noFill/>
          <a:ln/>
        </p:spPr>
        <p:txBody>
          <a:bodyPr wrap="square" lIns="0" tIns="0" rIns="0" bIns="0" rtlCol="0" anchor="t"/>
          <a:lstStyle/>
          <a:p>
            <a:pPr indent="0" marL="0">
              <a:buNone/>
            </a:pPr>
            <a:r>
              <a:rPr lang="en-US" sz="2400" dirty="0">
                <a:solidFill>
                  <a:schemeClr val="accent5"/>
                </a:solidFill>
              </a:rPr>
              <a:t>Vim, Emacs and Spacemacs superset, in one static binary.</a:t>
            </a:r>
            <a:endParaRPr lang="en-US" sz="2400" dirty="0"/>
          </a:p>
        </p:txBody>
      </p:sp>
      <p:sp>
        <p:nvSpPr>
          <p:cNvPr id="8"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What this talk covers</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zmax / agenda</a:t>
            </a:r>
            <a:endParaRPr lang="en-US" sz="1200" dirty="0"/>
          </a:p>
        </p:txBody>
      </p:sp>
      <p:sp>
        <p:nvSpPr>
          <p:cNvPr id="5" name="Text 2"/>
          <p:cNvSpPr txBox="1"/>
          <p:nvPr/>
        </p:nvSpPr>
        <p:spPr>
          <a:xfrm>
            <a:off x="822960" y="1463040"/>
            <a:ext cx="10515600" cy="775970"/>
          </a:xfrm>
          <a:prstGeom prst="rect">
            <a:avLst/>
          </a:prstGeom>
          <a:noFill/>
          <a:ln/>
        </p:spPr>
        <p:txBody>
          <a:bodyPr wrap="square" lIns="0" tIns="0" rIns="0" bIns="0" rtlCol="0" anchor="t"/>
          <a:lstStyle/>
          <a:p>
            <a:pPr indent="0" marL="0">
              <a:buNone/>
            </a:pPr>
            <a:r>
              <a:rPr lang="en-US" sz="2300" dirty="0">
                <a:solidFill>
                  <a:schemeClr val="bg2"/>
                </a:solidFill>
              </a:rPr>
              <a:t>The goal and its four pillars, then what ships in the binary, the embedded languages, and how coverage is measured honestly.</a:t>
            </a:r>
            <a:endParaRPr lang="en-US" sz="2300" dirty="0"/>
          </a:p>
        </p:txBody>
      </p:sp>
      <p:sp>
        <p:nvSpPr>
          <p:cNvPr id="6" name="Shape 3"/>
          <p:cNvSpPr/>
          <p:nvPr/>
        </p:nvSpPr>
        <p:spPr>
          <a:xfrm>
            <a:off x="822960" y="2467610"/>
            <a:ext cx="2491740" cy="3658870"/>
          </a:xfrm>
          <a:prstGeom prst="roundRect">
            <a:avLst>
              <a:gd name="adj" fmla="val 4404"/>
            </a:avLst>
          </a:prstGeom>
          <a:solidFill>
            <a:schemeClr val="tx2"/>
          </a:solidFill>
          <a:ln w="12700">
            <a:solidFill>
              <a:srgbClr val="4A1A5E"/>
            </a:solidFill>
            <a:prstDash val="solid"/>
          </a:ln>
        </p:spPr>
      </p:sp>
      <p:sp>
        <p:nvSpPr>
          <p:cNvPr id="7" name="Text 4"/>
          <p:cNvSpPr txBox="1"/>
          <p:nvPr/>
        </p:nvSpPr>
        <p:spPr>
          <a:xfrm>
            <a:off x="1097280" y="2696210"/>
            <a:ext cx="1943100" cy="457200"/>
          </a:xfrm>
          <a:prstGeom prst="rect">
            <a:avLst/>
          </a:prstGeom>
          <a:noFill/>
          <a:ln/>
        </p:spPr>
        <p:txBody>
          <a:bodyPr wrap="square" lIns="0" tIns="0" rIns="0" bIns="0" rtlCol="0" anchor="t"/>
          <a:lstStyle/>
          <a:p>
            <a:pPr indent="0" marL="0">
              <a:buNone/>
            </a:pPr>
            <a:r>
              <a:rPr lang="en-US" sz="2500" b="1" dirty="0">
                <a:solidFill>
                  <a:schemeClr val="accent1"/>
                </a:solidFill>
                <a:latin typeface="Cambria" pitchFamily="34" charset="0"/>
                <a:ea typeface="Cambria" pitchFamily="34" charset="-122"/>
                <a:cs typeface="Cambria" pitchFamily="34" charset="-120"/>
              </a:rPr>
              <a:t>Goal</a:t>
            </a:r>
            <a:endParaRPr lang="en-US" sz="2500" dirty="0"/>
          </a:p>
        </p:txBody>
      </p:sp>
      <p:sp>
        <p:nvSpPr>
          <p:cNvPr id="8" name="Text 5"/>
          <p:cNvSpPr txBox="1"/>
          <p:nvPr/>
        </p:nvSpPr>
        <p:spPr>
          <a:xfrm>
            <a:off x="1097280" y="3290570"/>
            <a:ext cx="1943100" cy="2607310"/>
          </a:xfrm>
          <a:prstGeom prst="rect">
            <a:avLst/>
          </a:prstGeom>
          <a:noFill/>
          <a:ln/>
        </p:spPr>
        <p:txBody>
          <a:bodyPr wrap="square" lIns="0" tIns="0" rIns="0" bIns="0" rtlCol="0" anchor="t"/>
          <a:lstStyle/>
          <a:p>
            <a:pPr indent="0" marL="0">
              <a:buNone/>
            </a:pPr>
            <a:r>
              <a:rPr lang="en-US" sz="2800" dirty="0">
                <a:solidFill>
                  <a:schemeClr val="bg2"/>
                </a:solidFill>
              </a:rPr>
              <a:t>Zero config, maximum power</a:t>
            </a:r>
            <a:endParaRPr lang="en-US" sz="2800" dirty="0"/>
          </a:p>
        </p:txBody>
      </p:sp>
      <p:sp>
        <p:nvSpPr>
          <p:cNvPr id="9" name="Shape 6"/>
          <p:cNvSpPr/>
          <p:nvPr/>
        </p:nvSpPr>
        <p:spPr>
          <a:xfrm>
            <a:off x="3497580" y="2467610"/>
            <a:ext cx="2491740" cy="3658870"/>
          </a:xfrm>
          <a:prstGeom prst="roundRect">
            <a:avLst>
              <a:gd name="adj" fmla="val 4404"/>
            </a:avLst>
          </a:prstGeom>
          <a:solidFill>
            <a:schemeClr val="tx2"/>
          </a:solidFill>
          <a:ln w="12700">
            <a:solidFill>
              <a:srgbClr val="4A1A5E"/>
            </a:solidFill>
            <a:prstDash val="solid"/>
          </a:ln>
        </p:spPr>
      </p:sp>
      <p:sp>
        <p:nvSpPr>
          <p:cNvPr id="10" name="Text 7"/>
          <p:cNvSpPr txBox="1"/>
          <p:nvPr/>
        </p:nvSpPr>
        <p:spPr>
          <a:xfrm>
            <a:off x="3771900" y="2696210"/>
            <a:ext cx="1943100" cy="457200"/>
          </a:xfrm>
          <a:prstGeom prst="rect">
            <a:avLst/>
          </a:prstGeom>
          <a:noFill/>
          <a:ln/>
        </p:spPr>
        <p:txBody>
          <a:bodyPr wrap="square" lIns="0" tIns="0" rIns="0" bIns="0" rtlCol="0" anchor="t"/>
          <a:lstStyle/>
          <a:p>
            <a:pPr indent="0" marL="0">
              <a:buNone/>
            </a:pPr>
            <a:r>
              <a:rPr lang="en-US" sz="2500" b="1" dirty="0">
                <a:solidFill>
                  <a:schemeClr val="accent1"/>
                </a:solidFill>
                <a:latin typeface="Cambria" pitchFamily="34" charset="0"/>
                <a:ea typeface="Cambria" pitchFamily="34" charset="-122"/>
                <a:cs typeface="Cambria" pitchFamily="34" charset="-120"/>
              </a:rPr>
              <a:t>Power</a:t>
            </a:r>
            <a:endParaRPr lang="en-US" sz="2500" dirty="0"/>
          </a:p>
        </p:txBody>
      </p:sp>
      <p:sp>
        <p:nvSpPr>
          <p:cNvPr id="11" name="Text 8"/>
          <p:cNvSpPr txBox="1"/>
          <p:nvPr/>
        </p:nvSpPr>
        <p:spPr>
          <a:xfrm>
            <a:off x="3771900" y="3290570"/>
            <a:ext cx="1943100" cy="2607310"/>
          </a:xfrm>
          <a:prstGeom prst="rect">
            <a:avLst/>
          </a:prstGeom>
          <a:noFill/>
          <a:ln/>
        </p:spPr>
        <p:txBody>
          <a:bodyPr wrap="square" lIns="0" tIns="0" rIns="0" bIns="0" rtlCol="0" anchor="t"/>
          <a:lstStyle/>
          <a:p>
            <a:pPr indent="0" marL="0">
              <a:buNone/>
            </a:pPr>
            <a:r>
              <a:rPr lang="en-US" sz="2800" dirty="0">
                <a:solidFill>
                  <a:schemeClr val="bg2"/>
                </a:solidFill>
              </a:rPr>
              <a:t>IDE surface in one binary</a:t>
            </a:r>
            <a:endParaRPr lang="en-US" sz="2800" dirty="0"/>
          </a:p>
        </p:txBody>
      </p:sp>
      <p:sp>
        <p:nvSpPr>
          <p:cNvPr id="12" name="Shape 9"/>
          <p:cNvSpPr/>
          <p:nvPr/>
        </p:nvSpPr>
        <p:spPr>
          <a:xfrm>
            <a:off x="6172200" y="2467610"/>
            <a:ext cx="2491740" cy="3658870"/>
          </a:xfrm>
          <a:prstGeom prst="roundRect">
            <a:avLst>
              <a:gd name="adj" fmla="val 4404"/>
            </a:avLst>
          </a:prstGeom>
          <a:solidFill>
            <a:schemeClr val="tx2"/>
          </a:solidFill>
          <a:ln w="12700">
            <a:solidFill>
              <a:srgbClr val="4A1A5E"/>
            </a:solidFill>
            <a:prstDash val="solid"/>
          </a:ln>
        </p:spPr>
      </p:sp>
      <p:sp>
        <p:nvSpPr>
          <p:cNvPr id="13" name="Text 10"/>
          <p:cNvSpPr txBox="1"/>
          <p:nvPr/>
        </p:nvSpPr>
        <p:spPr>
          <a:xfrm>
            <a:off x="6446520" y="2696210"/>
            <a:ext cx="1943100" cy="457200"/>
          </a:xfrm>
          <a:prstGeom prst="rect">
            <a:avLst/>
          </a:prstGeom>
          <a:noFill/>
          <a:ln/>
        </p:spPr>
        <p:txBody>
          <a:bodyPr wrap="square" lIns="0" tIns="0" rIns="0" bIns="0" rtlCol="0" anchor="t"/>
          <a:lstStyle/>
          <a:p>
            <a:pPr indent="0" marL="0">
              <a:buNone/>
            </a:pPr>
            <a:r>
              <a:rPr lang="en-US" sz="2500" b="1" dirty="0">
                <a:solidFill>
                  <a:schemeClr val="accent1"/>
                </a:solidFill>
                <a:latin typeface="Cambria" pitchFamily="34" charset="0"/>
                <a:ea typeface="Cambria" pitchFamily="34" charset="-122"/>
                <a:cs typeface="Cambria" pitchFamily="34" charset="-120"/>
              </a:rPr>
              <a:t>Scripting</a:t>
            </a:r>
            <a:endParaRPr lang="en-US" sz="2500" dirty="0"/>
          </a:p>
        </p:txBody>
      </p:sp>
      <p:sp>
        <p:nvSpPr>
          <p:cNvPr id="14" name="Text 11"/>
          <p:cNvSpPr txBox="1"/>
          <p:nvPr/>
        </p:nvSpPr>
        <p:spPr>
          <a:xfrm>
            <a:off x="6446520" y="3290570"/>
            <a:ext cx="1943100" cy="2607310"/>
          </a:xfrm>
          <a:prstGeom prst="rect">
            <a:avLst/>
          </a:prstGeom>
          <a:noFill/>
          <a:ln/>
        </p:spPr>
        <p:txBody>
          <a:bodyPr wrap="square" lIns="0" tIns="0" rIns="0" bIns="0" rtlCol="0" anchor="t"/>
          <a:lstStyle/>
          <a:p>
            <a:pPr indent="0" marL="0">
              <a:buNone/>
            </a:pPr>
            <a:r>
              <a:rPr lang="en-US" sz="2800" dirty="0">
                <a:solidFill>
                  <a:schemeClr val="bg2"/>
                </a:solidFill>
              </a:rPr>
              <a:t>Twelve embedded languages</a:t>
            </a:r>
            <a:endParaRPr lang="en-US" sz="2800" dirty="0"/>
          </a:p>
        </p:txBody>
      </p:sp>
      <p:sp>
        <p:nvSpPr>
          <p:cNvPr id="15" name="Shape 12"/>
          <p:cNvSpPr/>
          <p:nvPr/>
        </p:nvSpPr>
        <p:spPr>
          <a:xfrm>
            <a:off x="8846820" y="2467610"/>
            <a:ext cx="2491740" cy="3658870"/>
          </a:xfrm>
          <a:prstGeom prst="roundRect">
            <a:avLst>
              <a:gd name="adj" fmla="val 4404"/>
            </a:avLst>
          </a:prstGeom>
          <a:solidFill>
            <a:schemeClr val="tx2"/>
          </a:solidFill>
          <a:ln w="12700">
            <a:solidFill>
              <a:srgbClr val="4A1A5E"/>
            </a:solidFill>
            <a:prstDash val="solid"/>
          </a:ln>
        </p:spPr>
      </p:sp>
      <p:sp>
        <p:nvSpPr>
          <p:cNvPr id="16" name="Text 13"/>
          <p:cNvSpPr txBox="1"/>
          <p:nvPr/>
        </p:nvSpPr>
        <p:spPr>
          <a:xfrm>
            <a:off x="9121140" y="2696210"/>
            <a:ext cx="1943100" cy="457200"/>
          </a:xfrm>
          <a:prstGeom prst="rect">
            <a:avLst/>
          </a:prstGeom>
          <a:noFill/>
          <a:ln/>
        </p:spPr>
        <p:txBody>
          <a:bodyPr wrap="square" lIns="0" tIns="0" rIns="0" bIns="0" rtlCol="0" anchor="t"/>
          <a:lstStyle/>
          <a:p>
            <a:pPr indent="0" marL="0">
              <a:buNone/>
            </a:pPr>
            <a:r>
              <a:rPr lang="en-US" sz="2500" b="1" dirty="0">
                <a:solidFill>
                  <a:schemeClr val="accent1"/>
                </a:solidFill>
                <a:latin typeface="Cambria" pitchFamily="34" charset="0"/>
                <a:ea typeface="Cambria" pitchFamily="34" charset="-122"/>
                <a:cs typeface="Cambria" pitchFamily="34" charset="-120"/>
              </a:rPr>
              <a:t>Measured</a:t>
            </a:r>
            <a:endParaRPr lang="en-US" sz="2500" dirty="0"/>
          </a:p>
        </p:txBody>
      </p:sp>
      <p:sp>
        <p:nvSpPr>
          <p:cNvPr id="17" name="Text 14"/>
          <p:cNvSpPr txBox="1"/>
          <p:nvPr/>
        </p:nvSpPr>
        <p:spPr>
          <a:xfrm>
            <a:off x="9121140" y="3290570"/>
            <a:ext cx="1943100" cy="2607310"/>
          </a:xfrm>
          <a:prstGeom prst="rect">
            <a:avLst/>
          </a:prstGeom>
          <a:noFill/>
          <a:ln/>
        </p:spPr>
        <p:txBody>
          <a:bodyPr wrap="square" lIns="0" tIns="0" rIns="0" bIns="0" rtlCol="0" anchor="t"/>
          <a:lstStyle/>
          <a:p>
            <a:pPr indent="0" marL="0">
              <a:buNone/>
            </a:pPr>
            <a:r>
              <a:rPr lang="en-US" sz="2800" dirty="0">
                <a:solidFill>
                  <a:schemeClr val="bg2"/>
                </a:solidFill>
              </a:rPr>
              <a:t>A port report that refuses to flatter</a:t>
            </a:r>
            <a:endParaRPr lang="en-US" sz="28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Install it now</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zmax / install</a:t>
            </a:r>
            <a:endParaRPr lang="en-US" sz="1200" dirty="0"/>
          </a:p>
        </p:txBody>
      </p:sp>
      <p:sp>
        <p:nvSpPr>
          <p:cNvPr id="5" name="Text 2"/>
          <p:cNvSpPr txBox="1"/>
          <p:nvPr/>
        </p:nvSpPr>
        <p:spPr>
          <a:xfrm>
            <a:off x="822960" y="1463040"/>
            <a:ext cx="10515600" cy="775970"/>
          </a:xfrm>
          <a:prstGeom prst="rect">
            <a:avLst/>
          </a:prstGeom>
          <a:noFill/>
          <a:ln/>
        </p:spPr>
        <p:txBody>
          <a:bodyPr wrap="square" lIns="0" tIns="0" rIns="0" bIns="0" rtlCol="0" anchor="t"/>
          <a:lstStyle/>
          <a:p>
            <a:pPr indent="0" marL="0">
              <a:buNone/>
            </a:pPr>
            <a:r>
              <a:rPr lang="en-US" sz="2300" dirty="0">
                <a:solidFill>
                  <a:schemeClr val="bg2"/>
                </a:solidFill>
              </a:rPr>
              <a:t>Homebrew installs the binary. Release builds do not compile grammars, so fetch and build them once. This slide repeats at the end.</a:t>
            </a:r>
            <a:endParaRPr lang="en-US" sz="2300" dirty="0"/>
          </a:p>
        </p:txBody>
      </p:sp>
      <p:sp>
        <p:nvSpPr>
          <p:cNvPr id="6" name="Shape 3"/>
          <p:cNvSpPr/>
          <p:nvPr/>
        </p:nvSpPr>
        <p:spPr>
          <a:xfrm>
            <a:off x="822960" y="2467610"/>
            <a:ext cx="10515600" cy="1513840"/>
          </a:xfrm>
          <a:prstGeom prst="roundRect">
            <a:avLst>
              <a:gd name="adj" fmla="val 7248"/>
            </a:avLst>
          </a:prstGeom>
          <a:solidFill>
            <a:schemeClr val="tx2"/>
          </a:solidFill>
          <a:ln w="12700">
            <a:solidFill>
              <a:srgbClr val="4A1A5E"/>
            </a:solidFill>
            <a:prstDash val="solid"/>
          </a:ln>
        </p:spPr>
      </p:sp>
      <p:sp>
        <p:nvSpPr>
          <p:cNvPr id="7" name="Text 4"/>
          <p:cNvSpPr txBox="1"/>
          <p:nvPr/>
        </p:nvSpPr>
        <p:spPr>
          <a:xfrm>
            <a:off x="1143000" y="2696210"/>
            <a:ext cx="9875520" cy="1056640"/>
          </a:xfrm>
          <a:prstGeom prst="rect">
            <a:avLst/>
          </a:prstGeom>
          <a:noFill/>
          <a:ln/>
        </p:spPr>
        <p:txBody>
          <a:bodyPr wrap="square" lIns="0" tIns="0" rIns="0" bIns="0" rtlCol="0" anchor="t"/>
          <a:lstStyle/>
          <a:p>
            <a:pPr indent="0" marL="0">
              <a:lnSpc>
                <a:spcPct val="125000"/>
              </a:lnSpc>
              <a:buNone/>
            </a:pPr>
            <a:r>
              <a:rPr lang="en-US" sz="2600" dirty="0">
                <a:solidFill>
                  <a:schemeClr val="accent1"/>
                </a:solidFill>
                <a:latin typeface="Courier New" pitchFamily="34" charset="0"/>
                <a:ea typeface="Courier New" pitchFamily="34" charset="-122"/>
                <a:cs typeface="Courier New" pitchFamily="34" charset="-120"/>
              </a:rPr>
              <a:t>brew install MenkeTechnologies/menketech/zmax</a:t>
            </a:r>
            <a:endParaRPr lang="en-US" sz="2600" dirty="0"/>
          </a:p>
          <a:p>
            <a:pPr indent="0" marL="0">
              <a:lnSpc>
                <a:spcPct val="125000"/>
              </a:lnSpc>
              <a:buNone/>
            </a:pPr>
            <a:r>
              <a:rPr lang="en-US" sz="2600" dirty="0">
                <a:solidFill>
                  <a:schemeClr val="accent1"/>
                </a:solidFill>
                <a:latin typeface="Courier New" pitchFamily="34" charset="0"/>
                <a:ea typeface="Courier New" pitchFamily="34" charset="-122"/>
                <a:cs typeface="Courier New" pitchFamily="34" charset="-120"/>
              </a:rPr>
              <a:t>zmax -g fetch &amp;&amp; zmax -g build</a:t>
            </a:r>
            <a:endParaRPr lang="en-US" sz="26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The design goal</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zmax / vision</a:t>
            </a:r>
            <a:endParaRPr lang="en-US" sz="1200" dirty="0"/>
          </a:p>
        </p:txBody>
      </p:sp>
      <p:sp>
        <p:nvSpPr>
          <p:cNvPr id="5" name="Text 2"/>
          <p:cNvSpPr txBox="1"/>
          <p:nvPr/>
        </p:nvSpPr>
        <p:spPr>
          <a:xfrm>
            <a:off x="822960" y="1463040"/>
            <a:ext cx="10515600" cy="902970"/>
          </a:xfrm>
          <a:prstGeom prst="rect">
            <a:avLst/>
          </a:prstGeom>
          <a:noFill/>
          <a:ln/>
        </p:spPr>
        <p:txBody>
          <a:bodyPr wrap="square" lIns="0" tIns="0" rIns="0" bIns="0" rtlCol="0" anchor="t"/>
          <a:lstStyle/>
          <a:p>
            <a:pPr indent="0" marL="0">
              <a:buNone/>
            </a:pPr>
            <a:r>
              <a:rPr lang="en-US" sz="1800" dirty="0">
                <a:solidFill>
                  <a:schemeClr val="bg2"/>
                </a:solidFill>
              </a:rPr>
              <a:t>A CLI IDE that is maximally powerful with zero user configuration: install the binary, open a project, and have the full power of a graphical IDE in the terminal, with Spacemacs and JetBrains muscle memory already wired in.</a:t>
            </a:r>
            <a:endParaRPr lang="en-US" sz="1800" dirty="0"/>
          </a:p>
        </p:txBody>
      </p:sp>
      <p:sp>
        <p:nvSpPr>
          <p:cNvPr id="6" name="Shape 3"/>
          <p:cNvSpPr/>
          <p:nvPr/>
        </p:nvSpPr>
        <p:spPr>
          <a:xfrm>
            <a:off x="822960" y="2594610"/>
            <a:ext cx="2491740" cy="3531870"/>
          </a:xfrm>
          <a:prstGeom prst="roundRect">
            <a:avLst>
              <a:gd name="adj" fmla="val 4404"/>
            </a:avLst>
          </a:prstGeom>
          <a:solidFill>
            <a:schemeClr val="tx2"/>
          </a:solidFill>
          <a:ln w="12700">
            <a:solidFill>
              <a:srgbClr val="4A1A5E"/>
            </a:solidFill>
            <a:prstDash val="solid"/>
          </a:ln>
        </p:spPr>
      </p:sp>
      <p:sp>
        <p:nvSpPr>
          <p:cNvPr id="7" name="Text 4"/>
          <p:cNvSpPr txBox="1"/>
          <p:nvPr/>
        </p:nvSpPr>
        <p:spPr>
          <a:xfrm>
            <a:off x="1097280" y="2823210"/>
            <a:ext cx="19431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Pillar 1</a:t>
            </a:r>
            <a:endParaRPr lang="en-US" sz="2600" dirty="0"/>
          </a:p>
        </p:txBody>
      </p:sp>
      <p:sp>
        <p:nvSpPr>
          <p:cNvPr id="8" name="Text 5"/>
          <p:cNvSpPr txBox="1"/>
          <p:nvPr/>
        </p:nvSpPr>
        <p:spPr>
          <a:xfrm>
            <a:off x="1097280" y="3417570"/>
            <a:ext cx="1943100" cy="2480310"/>
          </a:xfrm>
          <a:prstGeom prst="rect">
            <a:avLst/>
          </a:prstGeom>
          <a:noFill/>
          <a:ln/>
        </p:spPr>
        <p:txBody>
          <a:bodyPr wrap="square" lIns="0" tIns="0" rIns="0" bIns="0" rtlCol="0" anchor="t"/>
          <a:lstStyle/>
          <a:p>
            <a:pPr indent="0" marL="0">
              <a:buNone/>
            </a:pPr>
            <a:r>
              <a:rPr lang="en-US" sz="2800" dirty="0">
                <a:solidFill>
                  <a:schemeClr val="bg2"/>
                </a:solidFill>
              </a:rPr>
              <a:t>Zero user config</a:t>
            </a:r>
            <a:endParaRPr lang="en-US" sz="2800" dirty="0"/>
          </a:p>
        </p:txBody>
      </p:sp>
      <p:sp>
        <p:nvSpPr>
          <p:cNvPr id="9" name="Shape 6"/>
          <p:cNvSpPr/>
          <p:nvPr/>
        </p:nvSpPr>
        <p:spPr>
          <a:xfrm>
            <a:off x="3497580" y="2594610"/>
            <a:ext cx="2491740" cy="3531870"/>
          </a:xfrm>
          <a:prstGeom prst="roundRect">
            <a:avLst>
              <a:gd name="adj" fmla="val 4404"/>
            </a:avLst>
          </a:prstGeom>
          <a:solidFill>
            <a:schemeClr val="tx2"/>
          </a:solidFill>
          <a:ln w="12700">
            <a:solidFill>
              <a:srgbClr val="4A1A5E"/>
            </a:solidFill>
            <a:prstDash val="solid"/>
          </a:ln>
        </p:spPr>
      </p:sp>
      <p:sp>
        <p:nvSpPr>
          <p:cNvPr id="10" name="Text 7"/>
          <p:cNvSpPr txBox="1"/>
          <p:nvPr/>
        </p:nvSpPr>
        <p:spPr>
          <a:xfrm>
            <a:off x="3771900" y="2823210"/>
            <a:ext cx="19431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Pillar 2</a:t>
            </a:r>
            <a:endParaRPr lang="en-US" sz="2600" dirty="0"/>
          </a:p>
        </p:txBody>
      </p:sp>
      <p:sp>
        <p:nvSpPr>
          <p:cNvPr id="11" name="Text 8"/>
          <p:cNvSpPr txBox="1"/>
          <p:nvPr/>
        </p:nvSpPr>
        <p:spPr>
          <a:xfrm>
            <a:off x="3771900" y="3417570"/>
            <a:ext cx="1943100" cy="2480310"/>
          </a:xfrm>
          <a:prstGeom prst="rect">
            <a:avLst/>
          </a:prstGeom>
          <a:noFill/>
          <a:ln/>
        </p:spPr>
        <p:txBody>
          <a:bodyPr wrap="square" lIns="0" tIns="0" rIns="0" bIns="0" rtlCol="0" anchor="t"/>
          <a:lstStyle/>
          <a:p>
            <a:pPr indent="0" marL="0">
              <a:buNone/>
            </a:pPr>
            <a:r>
              <a:rPr lang="en-US" sz="2800" dirty="0">
                <a:solidFill>
                  <a:schemeClr val="bg2"/>
                </a:solidFill>
              </a:rPr>
              <a:t>Maximum power</a:t>
            </a:r>
            <a:endParaRPr lang="en-US" sz="2800" dirty="0"/>
          </a:p>
        </p:txBody>
      </p:sp>
      <p:sp>
        <p:nvSpPr>
          <p:cNvPr id="12" name="Shape 9"/>
          <p:cNvSpPr/>
          <p:nvPr/>
        </p:nvSpPr>
        <p:spPr>
          <a:xfrm>
            <a:off x="6172200" y="2594610"/>
            <a:ext cx="2491740" cy="3531870"/>
          </a:xfrm>
          <a:prstGeom prst="roundRect">
            <a:avLst>
              <a:gd name="adj" fmla="val 4404"/>
            </a:avLst>
          </a:prstGeom>
          <a:solidFill>
            <a:schemeClr val="tx2"/>
          </a:solidFill>
          <a:ln w="12700">
            <a:solidFill>
              <a:srgbClr val="4A1A5E"/>
            </a:solidFill>
            <a:prstDash val="solid"/>
          </a:ln>
        </p:spPr>
      </p:sp>
      <p:sp>
        <p:nvSpPr>
          <p:cNvPr id="13" name="Text 10"/>
          <p:cNvSpPr txBox="1"/>
          <p:nvPr/>
        </p:nvSpPr>
        <p:spPr>
          <a:xfrm>
            <a:off x="6446520" y="2823210"/>
            <a:ext cx="19431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Pillar 3</a:t>
            </a:r>
            <a:endParaRPr lang="en-US" sz="2600" dirty="0"/>
          </a:p>
        </p:txBody>
      </p:sp>
      <p:sp>
        <p:nvSpPr>
          <p:cNvPr id="14" name="Text 11"/>
          <p:cNvSpPr txBox="1"/>
          <p:nvPr/>
        </p:nvSpPr>
        <p:spPr>
          <a:xfrm>
            <a:off x="6446520" y="3417570"/>
            <a:ext cx="1943100" cy="2480310"/>
          </a:xfrm>
          <a:prstGeom prst="rect">
            <a:avLst/>
          </a:prstGeom>
          <a:noFill/>
          <a:ln/>
        </p:spPr>
        <p:txBody>
          <a:bodyPr wrap="square" lIns="0" tIns="0" rIns="0" bIns="0" rtlCol="0" anchor="t"/>
          <a:lstStyle/>
          <a:p>
            <a:pPr indent="0" marL="0">
              <a:buNone/>
            </a:pPr>
            <a:r>
              <a:rPr lang="en-US" sz="2800" dirty="0">
                <a:solidFill>
                  <a:schemeClr val="bg2"/>
                </a:solidFill>
              </a:rPr>
              <a:t>CLI-first, native</a:t>
            </a:r>
            <a:endParaRPr lang="en-US" sz="2800" dirty="0"/>
          </a:p>
        </p:txBody>
      </p:sp>
      <p:sp>
        <p:nvSpPr>
          <p:cNvPr id="15" name="Shape 12"/>
          <p:cNvSpPr/>
          <p:nvPr/>
        </p:nvSpPr>
        <p:spPr>
          <a:xfrm>
            <a:off x="8846820" y="2594610"/>
            <a:ext cx="2491740" cy="3531870"/>
          </a:xfrm>
          <a:prstGeom prst="roundRect">
            <a:avLst>
              <a:gd name="adj" fmla="val 4404"/>
            </a:avLst>
          </a:prstGeom>
          <a:solidFill>
            <a:schemeClr val="tx2"/>
          </a:solidFill>
          <a:ln w="12700">
            <a:solidFill>
              <a:srgbClr val="4A1A5E"/>
            </a:solidFill>
            <a:prstDash val="solid"/>
          </a:ln>
        </p:spPr>
      </p:sp>
      <p:sp>
        <p:nvSpPr>
          <p:cNvPr id="16" name="Text 13"/>
          <p:cNvSpPr txBox="1"/>
          <p:nvPr/>
        </p:nvSpPr>
        <p:spPr>
          <a:xfrm>
            <a:off x="9121140" y="2823210"/>
            <a:ext cx="19431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Pillar 4</a:t>
            </a:r>
            <a:endParaRPr lang="en-US" sz="2600" dirty="0"/>
          </a:p>
        </p:txBody>
      </p:sp>
      <p:sp>
        <p:nvSpPr>
          <p:cNvPr id="17" name="Text 14"/>
          <p:cNvSpPr txBox="1"/>
          <p:nvPr/>
        </p:nvSpPr>
        <p:spPr>
          <a:xfrm>
            <a:off x="9121140" y="3417570"/>
            <a:ext cx="1943100" cy="2480310"/>
          </a:xfrm>
          <a:prstGeom prst="rect">
            <a:avLst/>
          </a:prstGeom>
          <a:noFill/>
          <a:ln/>
        </p:spPr>
        <p:txBody>
          <a:bodyPr wrap="square" lIns="0" tIns="0" rIns="0" bIns="0" rtlCol="0" anchor="t"/>
          <a:lstStyle/>
          <a:p>
            <a:pPr indent="0" marL="0">
              <a:buNone/>
            </a:pPr>
            <a:r>
              <a:rPr lang="en-US" sz="2800" dirty="0">
                <a:solidFill>
                  <a:schemeClr val="bg2"/>
                </a:solidFill>
              </a:rPr>
              <a:t>Spacemacs and JetBrains parity</a:t>
            </a:r>
            <a:endParaRPr lang="en-US" sz="28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Zero config in practice</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zmax / vision</a:t>
            </a:r>
            <a:endParaRPr lang="en-US" sz="1200" dirty="0"/>
          </a:p>
        </p:txBody>
      </p:sp>
      <p:sp>
        <p:nvSpPr>
          <p:cNvPr id="5" name="Text 2"/>
          <p:cNvSpPr txBox="1"/>
          <p:nvPr/>
        </p:nvSpPr>
        <p:spPr>
          <a:xfrm>
            <a:off x="822960" y="1463040"/>
            <a:ext cx="10515600" cy="775970"/>
          </a:xfrm>
          <a:prstGeom prst="rect">
            <a:avLst/>
          </a:prstGeom>
          <a:noFill/>
          <a:ln/>
        </p:spPr>
        <p:txBody>
          <a:bodyPr wrap="square" lIns="0" tIns="0" rIns="0" bIns="0" rtlCol="0" anchor="t"/>
          <a:lstStyle/>
          <a:p>
            <a:pPr indent="0" marL="0">
              <a:buNone/>
            </a:pPr>
            <a:r>
              <a:rPr lang="en-US" sz="2300" dirty="0">
                <a:solidFill>
                  <a:schemeClr val="bg2"/>
                </a:solidFill>
              </a:rPr>
              <a:t>The defaults are the product. Customisation is supported, but the measure of success is how much you can do having configured nothing.</a:t>
            </a:r>
            <a:endParaRPr lang="en-US" sz="2300" dirty="0"/>
          </a:p>
        </p:txBody>
      </p:sp>
      <p:sp>
        <p:nvSpPr>
          <p:cNvPr id="6" name="Shape 3"/>
          <p:cNvSpPr/>
          <p:nvPr/>
        </p:nvSpPr>
        <p:spPr>
          <a:xfrm>
            <a:off x="822960" y="2467610"/>
            <a:ext cx="2491740" cy="3658870"/>
          </a:xfrm>
          <a:prstGeom prst="roundRect">
            <a:avLst>
              <a:gd name="adj" fmla="val 4404"/>
            </a:avLst>
          </a:prstGeom>
          <a:solidFill>
            <a:schemeClr val="tx2"/>
          </a:solidFill>
          <a:ln w="12700">
            <a:solidFill>
              <a:srgbClr val="4A1A5E"/>
            </a:solidFill>
            <a:prstDash val="solid"/>
          </a:ln>
        </p:spPr>
      </p:sp>
      <p:sp>
        <p:nvSpPr>
          <p:cNvPr id="7" name="Text 4"/>
          <p:cNvSpPr txBox="1"/>
          <p:nvPr/>
        </p:nvSpPr>
        <p:spPr>
          <a:xfrm>
            <a:off x="1097280" y="2696210"/>
            <a:ext cx="1943100" cy="457200"/>
          </a:xfrm>
          <a:prstGeom prst="rect">
            <a:avLst/>
          </a:prstGeom>
          <a:noFill/>
          <a:ln/>
        </p:spPr>
        <p:txBody>
          <a:bodyPr wrap="square" lIns="0" tIns="0" rIns="0" bIns="0" rtlCol="0" anchor="t"/>
          <a:lstStyle/>
          <a:p>
            <a:pPr indent="0" marL="0">
              <a:buNone/>
            </a:pPr>
            <a:r>
              <a:rPr lang="en-US" sz="1400" b="1" dirty="0">
                <a:solidFill>
                  <a:schemeClr val="accent1"/>
                </a:solidFill>
                <a:latin typeface="Cambria" pitchFamily="34" charset="0"/>
                <a:ea typeface="Cambria" pitchFamily="34" charset="-122"/>
                <a:cs typeface="Cambria" pitchFamily="34" charset="-120"/>
              </a:rPr>
              <a:t>No init.el needed</a:t>
            </a:r>
            <a:endParaRPr lang="en-US" sz="1400" dirty="0"/>
          </a:p>
        </p:txBody>
      </p:sp>
      <p:sp>
        <p:nvSpPr>
          <p:cNvPr id="8" name="Text 5"/>
          <p:cNvSpPr txBox="1"/>
          <p:nvPr/>
        </p:nvSpPr>
        <p:spPr>
          <a:xfrm>
            <a:off x="1097280" y="3290570"/>
            <a:ext cx="1943100" cy="2607310"/>
          </a:xfrm>
          <a:prstGeom prst="rect">
            <a:avLst/>
          </a:prstGeom>
          <a:noFill/>
          <a:ln/>
        </p:spPr>
        <p:txBody>
          <a:bodyPr wrap="square" lIns="0" tIns="0" rIns="0" bIns="0" rtlCol="0" anchor="t"/>
          <a:lstStyle/>
          <a:p>
            <a:pPr indent="0" marL="0">
              <a:buNone/>
            </a:pPr>
            <a:r>
              <a:rPr lang="en-US" sz="2600" dirty="0">
                <a:solidFill>
                  <a:schemeClr val="bg2"/>
                </a:solidFill>
              </a:rPr>
              <a:t>Though ~/.zmax/init.el is sourced if present</a:t>
            </a:r>
            <a:endParaRPr lang="en-US" sz="2600" dirty="0"/>
          </a:p>
        </p:txBody>
      </p:sp>
      <p:sp>
        <p:nvSpPr>
          <p:cNvPr id="9" name="Shape 6"/>
          <p:cNvSpPr/>
          <p:nvPr/>
        </p:nvSpPr>
        <p:spPr>
          <a:xfrm>
            <a:off x="3497580" y="2467610"/>
            <a:ext cx="2491740" cy="3658870"/>
          </a:xfrm>
          <a:prstGeom prst="roundRect">
            <a:avLst>
              <a:gd name="adj" fmla="val 4404"/>
            </a:avLst>
          </a:prstGeom>
          <a:solidFill>
            <a:schemeClr val="tx2"/>
          </a:solidFill>
          <a:ln w="12700">
            <a:solidFill>
              <a:srgbClr val="4A1A5E"/>
            </a:solidFill>
            <a:prstDash val="solid"/>
          </a:ln>
        </p:spPr>
      </p:sp>
      <p:sp>
        <p:nvSpPr>
          <p:cNvPr id="10" name="Text 7"/>
          <p:cNvSpPr txBox="1"/>
          <p:nvPr/>
        </p:nvSpPr>
        <p:spPr>
          <a:xfrm>
            <a:off x="3771900" y="2696210"/>
            <a:ext cx="1943100" cy="457200"/>
          </a:xfrm>
          <a:prstGeom prst="rect">
            <a:avLst/>
          </a:prstGeom>
          <a:noFill/>
          <a:ln/>
        </p:spPr>
        <p:txBody>
          <a:bodyPr wrap="square" lIns="0" tIns="0" rIns="0" bIns="0" rtlCol="0" anchor="t"/>
          <a:lstStyle/>
          <a:p>
            <a:pPr indent="0" marL="0">
              <a:buNone/>
            </a:pPr>
            <a:r>
              <a:rPr lang="en-US" sz="1400" b="1" dirty="0">
                <a:solidFill>
                  <a:schemeClr val="accent1"/>
                </a:solidFill>
                <a:latin typeface="Cambria" pitchFamily="34" charset="0"/>
                <a:ea typeface="Cambria" pitchFamily="34" charset="-122"/>
                <a:cs typeface="Cambria" pitchFamily="34" charset="-120"/>
              </a:rPr>
              <a:t>No manager</a:t>
            </a:r>
            <a:endParaRPr lang="en-US" sz="1400" dirty="0"/>
          </a:p>
        </p:txBody>
      </p:sp>
      <p:sp>
        <p:nvSpPr>
          <p:cNvPr id="11" name="Text 8"/>
          <p:cNvSpPr txBox="1"/>
          <p:nvPr/>
        </p:nvSpPr>
        <p:spPr>
          <a:xfrm>
            <a:off x="3771900" y="3290570"/>
            <a:ext cx="1943100" cy="2607310"/>
          </a:xfrm>
          <a:prstGeom prst="rect">
            <a:avLst/>
          </a:prstGeom>
          <a:noFill/>
          <a:ln/>
        </p:spPr>
        <p:txBody>
          <a:bodyPr wrap="square" lIns="0" tIns="0" rIns="0" bIns="0" rtlCol="0" anchor="t"/>
          <a:lstStyle/>
          <a:p>
            <a:pPr indent="0" marL="0">
              <a:buNone/>
            </a:pPr>
            <a:r>
              <a:rPr lang="en-US" sz="2600" dirty="0">
                <a:solidFill>
                  <a:schemeClr val="bg2"/>
                </a:solidFill>
              </a:rPr>
              <a:t>No Mason, no plugin ritual</a:t>
            </a:r>
            <a:endParaRPr lang="en-US" sz="2600" dirty="0"/>
          </a:p>
        </p:txBody>
      </p:sp>
      <p:sp>
        <p:nvSpPr>
          <p:cNvPr id="12" name="Shape 9"/>
          <p:cNvSpPr/>
          <p:nvPr/>
        </p:nvSpPr>
        <p:spPr>
          <a:xfrm>
            <a:off x="6172200" y="2467610"/>
            <a:ext cx="2491740" cy="3658870"/>
          </a:xfrm>
          <a:prstGeom prst="roundRect">
            <a:avLst>
              <a:gd name="adj" fmla="val 4404"/>
            </a:avLst>
          </a:prstGeom>
          <a:solidFill>
            <a:schemeClr val="tx2"/>
          </a:solidFill>
          <a:ln w="12700">
            <a:solidFill>
              <a:srgbClr val="4A1A5E"/>
            </a:solidFill>
            <a:prstDash val="solid"/>
          </a:ln>
        </p:spPr>
      </p:sp>
      <p:sp>
        <p:nvSpPr>
          <p:cNvPr id="13" name="Text 10"/>
          <p:cNvSpPr txBox="1"/>
          <p:nvPr/>
        </p:nvSpPr>
        <p:spPr>
          <a:xfrm>
            <a:off x="6446520" y="2696210"/>
            <a:ext cx="1943100" cy="457200"/>
          </a:xfrm>
          <a:prstGeom prst="rect">
            <a:avLst/>
          </a:prstGeom>
          <a:noFill/>
          <a:ln/>
        </p:spPr>
        <p:txBody>
          <a:bodyPr wrap="square" lIns="0" tIns="0" rIns="0" bIns="0" rtlCol="0" anchor="t"/>
          <a:lstStyle/>
          <a:p>
            <a:pPr indent="0" marL="0">
              <a:buNone/>
            </a:pPr>
            <a:r>
              <a:rPr lang="en-US" sz="1400" b="1" dirty="0">
                <a:solidFill>
                  <a:schemeClr val="accent1"/>
                </a:solidFill>
                <a:latin typeface="Cambria" pitchFamily="34" charset="0"/>
                <a:ea typeface="Cambria" pitchFamily="34" charset="-122"/>
                <a:cs typeface="Cambria" pitchFamily="34" charset="-120"/>
              </a:rPr>
              <a:t>No bootstrap</a:t>
            </a:r>
            <a:endParaRPr lang="en-US" sz="1400" dirty="0"/>
          </a:p>
        </p:txBody>
      </p:sp>
      <p:sp>
        <p:nvSpPr>
          <p:cNvPr id="14" name="Text 11"/>
          <p:cNvSpPr txBox="1"/>
          <p:nvPr/>
        </p:nvSpPr>
        <p:spPr>
          <a:xfrm>
            <a:off x="6446520" y="3290570"/>
            <a:ext cx="1943100" cy="2607310"/>
          </a:xfrm>
          <a:prstGeom prst="rect">
            <a:avLst/>
          </a:prstGeom>
          <a:noFill/>
          <a:ln/>
        </p:spPr>
        <p:txBody>
          <a:bodyPr wrap="square" lIns="0" tIns="0" rIns="0" bIns="0" rtlCol="0" anchor="t"/>
          <a:lstStyle/>
          <a:p>
            <a:pPr indent="0" marL="0">
              <a:buNone/>
            </a:pPr>
            <a:r>
              <a:rPr lang="en-US" sz="2600" dirty="0">
                <a:solidFill>
                  <a:schemeClr val="bg2"/>
                </a:solidFill>
              </a:rPr>
              <a:t>No external language-server setup</a:t>
            </a:r>
            <a:endParaRPr lang="en-US" sz="2600" dirty="0"/>
          </a:p>
        </p:txBody>
      </p:sp>
      <p:sp>
        <p:nvSpPr>
          <p:cNvPr id="15" name="Shape 12"/>
          <p:cNvSpPr/>
          <p:nvPr/>
        </p:nvSpPr>
        <p:spPr>
          <a:xfrm>
            <a:off x="8846820" y="2467610"/>
            <a:ext cx="2491740" cy="3658870"/>
          </a:xfrm>
          <a:prstGeom prst="roundRect">
            <a:avLst>
              <a:gd name="adj" fmla="val 4404"/>
            </a:avLst>
          </a:prstGeom>
          <a:solidFill>
            <a:schemeClr val="tx2"/>
          </a:solidFill>
          <a:ln w="12700">
            <a:solidFill>
              <a:srgbClr val="4A1A5E"/>
            </a:solidFill>
            <a:prstDash val="solid"/>
          </a:ln>
        </p:spPr>
      </p:sp>
      <p:sp>
        <p:nvSpPr>
          <p:cNvPr id="16" name="Text 13"/>
          <p:cNvSpPr txBox="1"/>
          <p:nvPr/>
        </p:nvSpPr>
        <p:spPr>
          <a:xfrm>
            <a:off x="9121140" y="2696210"/>
            <a:ext cx="1943100" cy="457200"/>
          </a:xfrm>
          <a:prstGeom prst="rect">
            <a:avLst/>
          </a:prstGeom>
          <a:noFill/>
          <a:ln/>
        </p:spPr>
        <p:txBody>
          <a:bodyPr wrap="square" lIns="0" tIns="0" rIns="0" bIns="0" rtlCol="0" anchor="t"/>
          <a:lstStyle/>
          <a:p>
            <a:pPr indent="0" marL="0">
              <a:buNone/>
            </a:pPr>
            <a:r>
              <a:rPr lang="en-US" sz="1400" b="1" dirty="0">
                <a:solidFill>
                  <a:schemeClr val="accent1"/>
                </a:solidFill>
                <a:latin typeface="Cambria" pitchFamily="34" charset="0"/>
                <a:ea typeface="Cambria" pitchFamily="34" charset="-122"/>
                <a:cs typeface="Cambria" pitchFamily="34" charset="-120"/>
              </a:rPr>
              <a:t>Regressions</a:t>
            </a:r>
            <a:endParaRPr lang="en-US" sz="1400" dirty="0"/>
          </a:p>
        </p:txBody>
      </p:sp>
      <p:sp>
        <p:nvSpPr>
          <p:cNvPr id="17" name="Text 14"/>
          <p:cNvSpPr txBox="1"/>
          <p:nvPr/>
        </p:nvSpPr>
        <p:spPr>
          <a:xfrm>
            <a:off x="9121140" y="3290570"/>
            <a:ext cx="1943100" cy="2607310"/>
          </a:xfrm>
          <a:prstGeom prst="rect">
            <a:avLst/>
          </a:prstGeom>
          <a:noFill/>
          <a:ln/>
        </p:spPr>
        <p:txBody>
          <a:bodyPr wrap="square" lIns="0" tIns="0" rIns="0" bIns="0" rtlCol="0" anchor="t"/>
          <a:lstStyle/>
          <a:p>
            <a:pPr indent="0" marL="0">
              <a:buNone/>
            </a:pPr>
            <a:r>
              <a:rPr lang="en-US" sz="2600" dirty="0">
                <a:solidFill>
                  <a:schemeClr val="bg2"/>
                </a:solidFill>
              </a:rPr>
              <a:t>A feature needing manual setup counts as a bug</a:t>
            </a:r>
            <a:endParaRPr lang="en-US" sz="26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Terminal first, really native</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zmax / vision</a:t>
            </a:r>
            <a:endParaRPr lang="en-US" sz="1200" dirty="0"/>
          </a:p>
        </p:txBody>
      </p:sp>
      <p:sp>
        <p:nvSpPr>
          <p:cNvPr id="5" name="Text 2"/>
          <p:cNvSpPr txBox="1"/>
          <p:nvPr/>
        </p:nvSpPr>
        <p:spPr>
          <a:xfrm>
            <a:off x="822960" y="1463040"/>
            <a:ext cx="10515600" cy="775970"/>
          </a:xfrm>
          <a:prstGeom prst="rect">
            <a:avLst/>
          </a:prstGeom>
          <a:noFill/>
          <a:ln/>
        </p:spPr>
        <p:txBody>
          <a:bodyPr wrap="square" lIns="0" tIns="0" rIns="0" bIns="0" rtlCol="0" anchor="t"/>
          <a:lstStyle/>
          <a:p>
            <a:pPr indent="0" marL="0">
              <a:buNone/>
            </a:pPr>
            <a:r>
              <a:rPr lang="en-US" sz="2300" dirty="0">
                <a:solidFill>
                  <a:schemeClr val="bg2"/>
                </a:solidFill>
              </a:rPr>
              <a:t>No Electron, no DOM, no Node. Native-compiled Rust that runs in an SSH session on a Raspberry Pi as happily as on a workstation.</a:t>
            </a:r>
            <a:endParaRPr lang="en-US" sz="2300" dirty="0"/>
          </a:p>
        </p:txBody>
      </p:sp>
      <p:sp>
        <p:nvSpPr>
          <p:cNvPr id="6" name="Shape 3"/>
          <p:cNvSpPr/>
          <p:nvPr/>
        </p:nvSpPr>
        <p:spPr>
          <a:xfrm>
            <a:off x="822960" y="2467610"/>
            <a:ext cx="2491740" cy="3658870"/>
          </a:xfrm>
          <a:prstGeom prst="roundRect">
            <a:avLst>
              <a:gd name="adj" fmla="val 4404"/>
            </a:avLst>
          </a:prstGeom>
          <a:solidFill>
            <a:schemeClr val="tx2"/>
          </a:solidFill>
          <a:ln w="12700">
            <a:solidFill>
              <a:srgbClr val="4A1A5E"/>
            </a:solidFill>
            <a:prstDash val="solid"/>
          </a:ln>
        </p:spPr>
      </p:sp>
      <p:sp>
        <p:nvSpPr>
          <p:cNvPr id="7" name="Text 4"/>
          <p:cNvSpPr txBox="1"/>
          <p:nvPr/>
        </p:nvSpPr>
        <p:spPr>
          <a:xfrm>
            <a:off x="1097280" y="2696210"/>
            <a:ext cx="1943100" cy="45720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Large files</a:t>
            </a:r>
            <a:endParaRPr lang="en-US" sz="2000" dirty="0"/>
          </a:p>
        </p:txBody>
      </p:sp>
      <p:sp>
        <p:nvSpPr>
          <p:cNvPr id="8" name="Text 5"/>
          <p:cNvSpPr txBox="1"/>
          <p:nvPr/>
        </p:nvSpPr>
        <p:spPr>
          <a:xfrm>
            <a:off x="1097280" y="3290570"/>
            <a:ext cx="1943100" cy="2607310"/>
          </a:xfrm>
          <a:prstGeom prst="rect">
            <a:avLst/>
          </a:prstGeom>
          <a:noFill/>
          <a:ln/>
        </p:spPr>
        <p:txBody>
          <a:bodyPr wrap="square" lIns="0" tIns="0" rIns="0" bIns="0" rtlCol="0" anchor="t"/>
          <a:lstStyle/>
          <a:p>
            <a:pPr indent="0" marL="0">
              <a:buNone/>
            </a:pPr>
            <a:r>
              <a:rPr lang="en-US" sz="2800" dirty="0">
                <a:solidFill>
                  <a:schemeClr val="bg2"/>
                </a:solidFill>
              </a:rPr>
              <a:t>A 200 MB file opens</a:t>
            </a:r>
            <a:endParaRPr lang="en-US" sz="2800" dirty="0"/>
          </a:p>
        </p:txBody>
      </p:sp>
      <p:sp>
        <p:nvSpPr>
          <p:cNvPr id="9" name="Shape 6"/>
          <p:cNvSpPr/>
          <p:nvPr/>
        </p:nvSpPr>
        <p:spPr>
          <a:xfrm>
            <a:off x="3497580" y="2467610"/>
            <a:ext cx="2491740" cy="3658870"/>
          </a:xfrm>
          <a:prstGeom prst="roundRect">
            <a:avLst>
              <a:gd name="adj" fmla="val 4404"/>
            </a:avLst>
          </a:prstGeom>
          <a:solidFill>
            <a:schemeClr val="tx2"/>
          </a:solidFill>
          <a:ln w="12700">
            <a:solidFill>
              <a:srgbClr val="4A1A5E"/>
            </a:solidFill>
            <a:prstDash val="solid"/>
          </a:ln>
        </p:spPr>
      </p:sp>
      <p:sp>
        <p:nvSpPr>
          <p:cNvPr id="10" name="Text 7"/>
          <p:cNvSpPr txBox="1"/>
          <p:nvPr/>
        </p:nvSpPr>
        <p:spPr>
          <a:xfrm>
            <a:off x="3771900" y="2696210"/>
            <a:ext cx="1943100" cy="45720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Minified JS</a:t>
            </a:r>
            <a:endParaRPr lang="en-US" sz="2000" dirty="0"/>
          </a:p>
        </p:txBody>
      </p:sp>
      <p:sp>
        <p:nvSpPr>
          <p:cNvPr id="11" name="Text 8"/>
          <p:cNvSpPr txBox="1"/>
          <p:nvPr/>
        </p:nvSpPr>
        <p:spPr>
          <a:xfrm>
            <a:off x="3771900" y="3290570"/>
            <a:ext cx="1943100" cy="2607310"/>
          </a:xfrm>
          <a:prstGeom prst="rect">
            <a:avLst/>
          </a:prstGeom>
          <a:noFill/>
          <a:ln/>
        </p:spPr>
        <p:txBody>
          <a:bodyPr wrap="square" lIns="0" tIns="0" rIns="0" bIns="0" rtlCol="0" anchor="t"/>
          <a:lstStyle/>
          <a:p>
            <a:pPr indent="0" marL="0">
              <a:buNone/>
            </a:pPr>
            <a:r>
              <a:rPr lang="en-US" sz="2800" dirty="0">
                <a:solidFill>
                  <a:schemeClr val="bg2"/>
                </a:solidFill>
              </a:rPr>
              <a:t>A single huge line edits</a:t>
            </a:r>
            <a:endParaRPr lang="en-US" sz="2800" dirty="0"/>
          </a:p>
        </p:txBody>
      </p:sp>
      <p:sp>
        <p:nvSpPr>
          <p:cNvPr id="12" name="Shape 9"/>
          <p:cNvSpPr/>
          <p:nvPr/>
        </p:nvSpPr>
        <p:spPr>
          <a:xfrm>
            <a:off x="6172200" y="2467610"/>
            <a:ext cx="2491740" cy="3658870"/>
          </a:xfrm>
          <a:prstGeom prst="roundRect">
            <a:avLst>
              <a:gd name="adj" fmla="val 4404"/>
            </a:avLst>
          </a:prstGeom>
          <a:solidFill>
            <a:schemeClr val="tx2"/>
          </a:solidFill>
          <a:ln w="12700">
            <a:solidFill>
              <a:srgbClr val="4A1A5E"/>
            </a:solidFill>
            <a:prstDash val="solid"/>
          </a:ln>
        </p:spPr>
      </p:sp>
      <p:sp>
        <p:nvSpPr>
          <p:cNvPr id="13" name="Text 10"/>
          <p:cNvSpPr txBox="1"/>
          <p:nvPr/>
        </p:nvSpPr>
        <p:spPr>
          <a:xfrm>
            <a:off x="6446520" y="2696210"/>
            <a:ext cx="1943100" cy="45720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Encodings</a:t>
            </a:r>
            <a:endParaRPr lang="en-US" sz="2000" dirty="0"/>
          </a:p>
        </p:txBody>
      </p:sp>
      <p:sp>
        <p:nvSpPr>
          <p:cNvPr id="14" name="Text 11"/>
          <p:cNvSpPr txBox="1"/>
          <p:nvPr/>
        </p:nvSpPr>
        <p:spPr>
          <a:xfrm>
            <a:off x="6446520" y="3290570"/>
            <a:ext cx="1943100" cy="2607310"/>
          </a:xfrm>
          <a:prstGeom prst="rect">
            <a:avLst/>
          </a:prstGeom>
          <a:noFill/>
          <a:ln/>
        </p:spPr>
        <p:txBody>
          <a:bodyPr wrap="square" lIns="0" tIns="0" rIns="0" bIns="0" rtlCol="0" anchor="t"/>
          <a:lstStyle/>
          <a:p>
            <a:pPr indent="0" marL="0">
              <a:buNone/>
            </a:pPr>
            <a:r>
              <a:rPr lang="en-US" sz="2800" dirty="0">
                <a:solidFill>
                  <a:schemeClr val="bg2"/>
                </a:solidFill>
              </a:rPr>
              <a:t>ShiftJIS text edits</a:t>
            </a:r>
            <a:endParaRPr lang="en-US" sz="2800" dirty="0"/>
          </a:p>
        </p:txBody>
      </p:sp>
      <p:sp>
        <p:nvSpPr>
          <p:cNvPr id="15" name="Shape 12"/>
          <p:cNvSpPr/>
          <p:nvPr/>
        </p:nvSpPr>
        <p:spPr>
          <a:xfrm>
            <a:off x="8846820" y="2467610"/>
            <a:ext cx="2491740" cy="3658870"/>
          </a:xfrm>
          <a:prstGeom prst="roundRect">
            <a:avLst>
              <a:gd name="adj" fmla="val 4404"/>
            </a:avLst>
          </a:prstGeom>
          <a:solidFill>
            <a:schemeClr val="tx2"/>
          </a:solidFill>
          <a:ln w="12700">
            <a:solidFill>
              <a:srgbClr val="4A1A5E"/>
            </a:solidFill>
            <a:prstDash val="solid"/>
          </a:ln>
        </p:spPr>
      </p:sp>
      <p:sp>
        <p:nvSpPr>
          <p:cNvPr id="16" name="Text 13"/>
          <p:cNvSpPr txBox="1"/>
          <p:nvPr/>
        </p:nvSpPr>
        <p:spPr>
          <a:xfrm>
            <a:off x="9121140" y="2696210"/>
            <a:ext cx="1943100" cy="45720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SSH</a:t>
            </a:r>
            <a:endParaRPr lang="en-US" sz="2000" dirty="0"/>
          </a:p>
        </p:txBody>
      </p:sp>
      <p:sp>
        <p:nvSpPr>
          <p:cNvPr id="17" name="Text 14"/>
          <p:cNvSpPr txBox="1"/>
          <p:nvPr/>
        </p:nvSpPr>
        <p:spPr>
          <a:xfrm>
            <a:off x="9121140" y="3290570"/>
            <a:ext cx="1943100" cy="2607310"/>
          </a:xfrm>
          <a:prstGeom prst="rect">
            <a:avLst/>
          </a:prstGeom>
          <a:noFill/>
          <a:ln/>
        </p:spPr>
        <p:txBody>
          <a:bodyPr wrap="square" lIns="0" tIns="0" rIns="0" bIns="0" rtlCol="0" anchor="t"/>
          <a:lstStyle/>
          <a:p>
            <a:pPr indent="0" marL="0">
              <a:buNone/>
            </a:pPr>
            <a:r>
              <a:rPr lang="en-US" sz="2800" dirty="0">
                <a:solidFill>
                  <a:schemeClr val="bg2"/>
                </a:solidFill>
              </a:rPr>
              <a:t>The terminal is the primary surface</a:t>
            </a:r>
            <a:endParaRPr lang="en-US" sz="28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Keymaps</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zmax / keymap</a:t>
            </a:r>
            <a:endParaRPr lang="en-US" sz="1200" dirty="0"/>
          </a:p>
        </p:txBody>
      </p:sp>
      <p:sp>
        <p:nvSpPr>
          <p:cNvPr id="5" name="Text 2"/>
          <p:cNvSpPr txBox="1"/>
          <p:nvPr/>
        </p:nvSpPr>
        <p:spPr>
          <a:xfrm>
            <a:off x="822960" y="1463040"/>
            <a:ext cx="10515600" cy="426720"/>
          </a:xfrm>
          <a:prstGeom prst="rect">
            <a:avLst/>
          </a:prstGeom>
          <a:noFill/>
          <a:ln/>
        </p:spPr>
        <p:txBody>
          <a:bodyPr wrap="square" lIns="0" tIns="0" rIns="0" bIns="0" rtlCol="0" anchor="t"/>
          <a:lstStyle/>
          <a:p>
            <a:pPr indent="0" marL="0">
              <a:buNone/>
            </a:pPr>
            <a:r>
              <a:rPr lang="en-US" sz="2400" dirty="0">
                <a:solidFill>
                  <a:schemeClr val="bg2"/>
                </a:solidFill>
              </a:rPr>
              <a:t>Selectable with keymap = "..." or :keymap &lt;name&gt; at runtime.</a:t>
            </a:r>
            <a:endParaRPr lang="en-US" sz="2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2960" y="2118360"/>
          <a:ext cx="10515600" cy="914400"/>
        </p:xfrm>
        <a:graphic>
          <a:graphicData uri="http://schemas.openxmlformats.org/drawingml/2006/table">
            <a:tbl>
              <a:tblPr/>
              <a:tblGrid>
                <a:gridCol w="3840480"/>
                <a:gridCol w="6675120"/>
              </a:tblGrid>
              <a:tr h="801624">
                <a:tc>
                  <a:txBody>
                    <a:bodyPr/>
                    <a:lstStyle/>
                    <a:p>
                      <a:pPr indent="0" marL="0">
                        <a:buNone/>
                      </a:pPr>
                      <a:r>
                        <a:rPr lang="en-US" sz="2000" b="1" dirty="0">
                          <a:solidFill>
                            <a:schemeClr val="accent1"/>
                          </a:solidFill>
                        </a:rPr>
                        <a:t>Preset</a:t>
                      </a:r>
                      <a:endParaRPr lang="en-US" sz="20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c>
                  <a:txBody>
                    <a:bodyPr/>
                    <a:lstStyle/>
                    <a:p>
                      <a:pPr indent="0" marL="0">
                        <a:buNone/>
                      </a:pPr>
                      <a:r>
                        <a:rPr lang="en-US" sz="2000" b="1" dirty="0">
                          <a:solidFill>
                            <a:schemeClr val="accent1"/>
                          </a:solidFill>
                        </a:rPr>
                        <a:t>Notes</a:t>
                      </a:r>
                      <a:endParaRPr lang="en-US" sz="20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r>
              <a:tr h="801624">
                <a:tc>
                  <a:txBody>
                    <a:bodyPr/>
                    <a:lstStyle/>
                    <a:p>
                      <a:pPr indent="0" marL="0">
                        <a:buNone/>
                      </a:pPr>
                      <a:r>
                        <a:rPr lang="en-US" sz="2000" dirty="0">
                          <a:solidFill>
                            <a:schemeClr val="bg2"/>
                          </a:solidFill>
                        </a:rPr>
                        <a:t>spacemacs (default)</a:t>
                      </a:r>
                      <a:endParaRPr lang="en-US" sz="20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c>
                  <a:txBody>
                    <a:bodyPr/>
                    <a:lstStyle/>
                    <a:p>
                      <a:pPr indent="0" marL="0">
                        <a:buNone/>
                      </a:pPr>
                      <a:r>
                        <a:rPr lang="en-US" sz="2000" dirty="0">
                          <a:solidFill>
                            <a:schemeClr val="bg2"/>
                          </a:solidFill>
                        </a:rPr>
                        <a:t>Vim keys plus SPC leader and C-x with which-key</a:t>
                      </a:r>
                      <a:endParaRPr lang="en-US" sz="20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r>
              <a:tr h="801624">
                <a:tc>
                  <a:txBody>
                    <a:bodyPr/>
                    <a:lstStyle/>
                    <a:p>
                      <a:pPr indent="0" marL="0">
                        <a:buNone/>
                      </a:pPr>
                      <a:r>
                        <a:rPr lang="en-US" sz="2000" dirty="0">
                          <a:solidFill>
                            <a:schemeClr val="bg2"/>
                          </a:solidFill>
                        </a:rPr>
                        <a:t>hybrid, vim, helix</a:t>
                      </a:r>
                      <a:endParaRPr lang="en-US" sz="20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c>
                  <a:txBody>
                    <a:bodyPr/>
                    <a:lstStyle/>
                    <a:p>
                      <a:pPr indent="0" marL="0">
                        <a:buNone/>
                      </a:pPr>
                      <a:r>
                        <a:rPr lang="en-US" sz="2000" dirty="0">
                          <a:solidFill>
                            <a:schemeClr val="bg2"/>
                          </a:solidFill>
                        </a:rPr>
                        <a:t>The pure vim preset drops the spacemacs layer</a:t>
                      </a:r>
                      <a:endParaRPr lang="en-US" sz="20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r>
              <a:tr h="801624">
                <a:tc>
                  <a:txBody>
                    <a:bodyPr/>
                    <a:lstStyle/>
                    <a:p>
                      <a:pPr indent="0" marL="0">
                        <a:buNone/>
                      </a:pPr>
                      <a:r>
                        <a:rPr lang="en-US" sz="2000" dirty="0">
                          <a:solidFill>
                            <a:schemeClr val="bg2"/>
                          </a:solidFill>
                        </a:rPr>
                        <a:t>kakoune, micro, nano</a:t>
                      </a:r>
                      <a:endParaRPr lang="en-US" sz="20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c>
                  <a:txBody>
                    <a:bodyPr/>
                    <a:lstStyle/>
                    <a:p>
                      <a:pPr indent="0" marL="0">
                        <a:buNone/>
                      </a:pPr>
                      <a:r>
                        <a:rPr lang="en-US" sz="2000" dirty="0">
                          <a:solidFill>
                            <a:schemeClr val="bg2"/>
                          </a:solidFill>
                        </a:rPr>
                        <a:t>Other editors' defaults</a:t>
                      </a:r>
                      <a:endParaRPr lang="en-US" sz="20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r>
              <a:tr h="801624">
                <a:tc>
                  <a:txBody>
                    <a:bodyPr/>
                    <a:lstStyle/>
                    <a:p>
                      <a:pPr indent="0" marL="0">
                        <a:buNone/>
                      </a:pPr>
                      <a:r>
                        <a:rPr lang="en-US" sz="2000" dirty="0">
                          <a:solidFill>
                            <a:schemeClr val="bg2"/>
                          </a:solidFill>
                        </a:rPr>
                        <a:t>emacs, cua</a:t>
                      </a:r>
                      <a:endParaRPr lang="en-US" sz="20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c>
                  <a:txBody>
                    <a:bodyPr/>
                    <a:lstStyle/>
                    <a:p>
                      <a:pPr indent="0" marL="0">
                        <a:buNone/>
                      </a:pPr>
                      <a:r>
                        <a:rPr lang="en-US" sz="2000" dirty="0">
                          <a:solidFill>
                            <a:schemeClr val="bg2"/>
                          </a:solidFill>
                        </a:rPr>
                        <a:t>Chord styles</a:t>
                      </a:r>
                      <a:endParaRPr lang="en-US" sz="2000" dirty="0"/>
                    </a:p>
                  </a:txBody>
                  <a:tcPr marL="91440" marR="91440" marT="45720" marB="45720" anchor="ctr">
                    <a:lnL w="12700" cap="flat" cmpd="sng" algn="ctr">
                      <a:solidFill>
                        <a:srgbClr val="4A1A5E"/>
                      </a:solidFill>
                      <a:prstDash val="solid"/>
                      <a:round/>
                      <a:headEnd type="none" w="med" len="med"/>
                      <a:tailEnd type="none" w="med" len="med"/>
                    </a:lnL>
                    <a:lnR w="12700" cap="flat" cmpd="sng" algn="ctr">
                      <a:solidFill>
                        <a:srgbClr val="4A1A5E"/>
                      </a:solidFill>
                      <a:prstDash val="solid"/>
                      <a:round/>
                      <a:headEnd type="none" w="med" len="med"/>
                      <a:tailEnd type="none" w="med" len="med"/>
                    </a:lnR>
                    <a:lnT w="12700" cap="flat" cmpd="sng" algn="ctr">
                      <a:solidFill>
                        <a:srgbClr val="4A1A5E"/>
                      </a:solidFill>
                      <a:prstDash val="solid"/>
                      <a:round/>
                      <a:headEnd type="none" w="med" len="med"/>
                      <a:tailEnd type="none" w="med" len="med"/>
                    </a:lnT>
                    <a:lnB w="12700" cap="flat" cmpd="sng" algn="ctr">
                      <a:solidFill>
                        <a:srgbClr val="4A1A5E"/>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The IDE surface</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zmax / ide</a:t>
            </a:r>
            <a:endParaRPr lang="en-US" sz="1200" dirty="0"/>
          </a:p>
        </p:txBody>
      </p:sp>
      <p:sp>
        <p:nvSpPr>
          <p:cNvPr id="5" name="Text 2"/>
          <p:cNvSpPr txBox="1"/>
          <p:nvPr/>
        </p:nvSpPr>
        <p:spPr>
          <a:xfrm>
            <a:off x="822960" y="1463040"/>
            <a:ext cx="10515600" cy="807720"/>
          </a:xfrm>
          <a:prstGeom prst="rect">
            <a:avLst/>
          </a:prstGeom>
          <a:noFill/>
          <a:ln/>
        </p:spPr>
        <p:txBody>
          <a:bodyPr wrap="square" lIns="0" tIns="0" rIns="0" bIns="0" rtlCol="0" anchor="t"/>
          <a:lstStyle/>
          <a:p>
            <a:pPr indent="0" marL="0">
              <a:buNone/>
            </a:pPr>
            <a:r>
              <a:rPr lang="en-US" sz="2400" dirty="0">
                <a:solidFill>
                  <a:schemeClr val="bg2"/>
                </a:solidFill>
              </a:rPr>
              <a:t>Everything ships in the single static binary and works on first launch.</a:t>
            </a:r>
            <a:endParaRPr lang="en-US" sz="2400" dirty="0"/>
          </a:p>
        </p:txBody>
      </p:sp>
      <p:sp>
        <p:nvSpPr>
          <p:cNvPr id="6" name="Shape 3"/>
          <p:cNvSpPr/>
          <p:nvPr/>
        </p:nvSpPr>
        <p:spPr>
          <a:xfrm>
            <a:off x="822960" y="2499360"/>
            <a:ext cx="2491740" cy="3627120"/>
          </a:xfrm>
          <a:prstGeom prst="roundRect">
            <a:avLst>
              <a:gd name="adj" fmla="val 4404"/>
            </a:avLst>
          </a:prstGeom>
          <a:solidFill>
            <a:schemeClr val="tx2"/>
          </a:solidFill>
          <a:ln w="12700">
            <a:solidFill>
              <a:srgbClr val="4A1A5E"/>
            </a:solidFill>
            <a:prstDash val="solid"/>
          </a:ln>
        </p:spPr>
      </p:sp>
      <p:sp>
        <p:nvSpPr>
          <p:cNvPr id="7" name="Text 4"/>
          <p:cNvSpPr txBox="1"/>
          <p:nvPr/>
        </p:nvSpPr>
        <p:spPr>
          <a:xfrm>
            <a:off x="1097280" y="2727960"/>
            <a:ext cx="194310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Language</a:t>
            </a:r>
            <a:endParaRPr lang="en-US" sz="2200" dirty="0"/>
          </a:p>
        </p:txBody>
      </p:sp>
      <p:sp>
        <p:nvSpPr>
          <p:cNvPr id="8" name="Text 5"/>
          <p:cNvSpPr txBox="1"/>
          <p:nvPr/>
        </p:nvSpPr>
        <p:spPr>
          <a:xfrm>
            <a:off x="1097280" y="3322320"/>
            <a:ext cx="1943100" cy="2575560"/>
          </a:xfrm>
          <a:prstGeom prst="rect">
            <a:avLst/>
          </a:prstGeom>
          <a:noFill/>
          <a:ln/>
        </p:spPr>
        <p:txBody>
          <a:bodyPr wrap="square" lIns="0" tIns="0" rIns="0" bIns="0" rtlCol="0" anchor="t"/>
          <a:lstStyle/>
          <a:p>
            <a:pPr indent="0" marL="0">
              <a:buNone/>
            </a:pPr>
            <a:r>
              <a:rPr lang="en-US" sz="2800" dirty="0">
                <a:solidFill>
                  <a:schemeClr val="bg2"/>
                </a:solidFill>
              </a:rPr>
              <a:t>LSP and a DAP debugger, tree-sitter</a:t>
            </a:r>
            <a:endParaRPr lang="en-US" sz="2800" dirty="0"/>
          </a:p>
        </p:txBody>
      </p:sp>
      <p:sp>
        <p:nvSpPr>
          <p:cNvPr id="9" name="Shape 6"/>
          <p:cNvSpPr/>
          <p:nvPr/>
        </p:nvSpPr>
        <p:spPr>
          <a:xfrm>
            <a:off x="3497580" y="2499360"/>
            <a:ext cx="2491740" cy="3627120"/>
          </a:xfrm>
          <a:prstGeom prst="roundRect">
            <a:avLst>
              <a:gd name="adj" fmla="val 4404"/>
            </a:avLst>
          </a:prstGeom>
          <a:solidFill>
            <a:schemeClr val="tx2"/>
          </a:solidFill>
          <a:ln w="12700">
            <a:solidFill>
              <a:srgbClr val="4A1A5E"/>
            </a:solidFill>
            <a:prstDash val="solid"/>
          </a:ln>
        </p:spPr>
      </p:sp>
      <p:sp>
        <p:nvSpPr>
          <p:cNvPr id="10" name="Text 7"/>
          <p:cNvSpPr txBox="1"/>
          <p:nvPr/>
        </p:nvSpPr>
        <p:spPr>
          <a:xfrm>
            <a:off x="3771900" y="2727960"/>
            <a:ext cx="194310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Navigation</a:t>
            </a:r>
            <a:endParaRPr lang="en-US" sz="2200" dirty="0"/>
          </a:p>
        </p:txBody>
      </p:sp>
      <p:sp>
        <p:nvSpPr>
          <p:cNvPr id="11" name="Text 8"/>
          <p:cNvSpPr txBox="1"/>
          <p:nvPr/>
        </p:nvSpPr>
        <p:spPr>
          <a:xfrm>
            <a:off x="3771900" y="3322320"/>
            <a:ext cx="1943100" cy="2575560"/>
          </a:xfrm>
          <a:prstGeom prst="rect">
            <a:avLst/>
          </a:prstGeom>
          <a:noFill/>
          <a:ln/>
        </p:spPr>
        <p:txBody>
          <a:bodyPr wrap="square" lIns="0" tIns="0" rIns="0" bIns="0" rtlCol="0" anchor="t"/>
          <a:lstStyle/>
          <a:p>
            <a:pPr indent="0" marL="0">
              <a:buNone/>
            </a:pPr>
            <a:r>
              <a:rPr lang="en-US" sz="2800" dirty="0">
                <a:solidFill>
                  <a:schemeClr val="bg2"/>
                </a:solidFill>
              </a:rPr>
              <a:t>Fuzzy picker, project tree, minimap</a:t>
            </a:r>
            <a:endParaRPr lang="en-US" sz="2800" dirty="0"/>
          </a:p>
        </p:txBody>
      </p:sp>
      <p:sp>
        <p:nvSpPr>
          <p:cNvPr id="12" name="Shape 9"/>
          <p:cNvSpPr/>
          <p:nvPr/>
        </p:nvSpPr>
        <p:spPr>
          <a:xfrm>
            <a:off x="6172200" y="2499360"/>
            <a:ext cx="2491740" cy="3627120"/>
          </a:xfrm>
          <a:prstGeom prst="roundRect">
            <a:avLst>
              <a:gd name="adj" fmla="val 4404"/>
            </a:avLst>
          </a:prstGeom>
          <a:solidFill>
            <a:schemeClr val="tx2"/>
          </a:solidFill>
          <a:ln w="12700">
            <a:solidFill>
              <a:srgbClr val="4A1A5E"/>
            </a:solidFill>
            <a:prstDash val="solid"/>
          </a:ln>
        </p:spPr>
      </p:sp>
      <p:sp>
        <p:nvSpPr>
          <p:cNvPr id="13" name="Text 10"/>
          <p:cNvSpPr txBox="1"/>
          <p:nvPr/>
        </p:nvSpPr>
        <p:spPr>
          <a:xfrm>
            <a:off x="6446520" y="2727960"/>
            <a:ext cx="194310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Terminal</a:t>
            </a:r>
            <a:endParaRPr lang="en-US" sz="2200" dirty="0"/>
          </a:p>
        </p:txBody>
      </p:sp>
      <p:sp>
        <p:nvSpPr>
          <p:cNvPr id="14" name="Text 11"/>
          <p:cNvSpPr txBox="1"/>
          <p:nvPr/>
        </p:nvSpPr>
        <p:spPr>
          <a:xfrm>
            <a:off x="6446520" y="3322320"/>
            <a:ext cx="1943100" cy="2575560"/>
          </a:xfrm>
          <a:prstGeom prst="rect">
            <a:avLst/>
          </a:prstGeom>
          <a:noFill/>
          <a:ln/>
        </p:spPr>
        <p:txBody>
          <a:bodyPr wrap="square" lIns="0" tIns="0" rIns="0" bIns="0" rtlCol="0" anchor="t"/>
          <a:lstStyle/>
          <a:p>
            <a:pPr indent="0" marL="0">
              <a:buNone/>
            </a:pPr>
            <a:r>
              <a:rPr lang="en-US" sz="2800" dirty="0">
                <a:solidFill>
                  <a:schemeClr val="bg2"/>
                </a:solidFill>
              </a:rPr>
              <a:t>A real PTY terminal</a:t>
            </a:r>
            <a:endParaRPr lang="en-US" sz="2800" dirty="0"/>
          </a:p>
        </p:txBody>
      </p:sp>
      <p:sp>
        <p:nvSpPr>
          <p:cNvPr id="15" name="Shape 12"/>
          <p:cNvSpPr/>
          <p:nvPr/>
        </p:nvSpPr>
        <p:spPr>
          <a:xfrm>
            <a:off x="8846820" y="2499360"/>
            <a:ext cx="2491740" cy="3627120"/>
          </a:xfrm>
          <a:prstGeom prst="roundRect">
            <a:avLst>
              <a:gd name="adj" fmla="val 4404"/>
            </a:avLst>
          </a:prstGeom>
          <a:solidFill>
            <a:schemeClr val="tx2"/>
          </a:solidFill>
          <a:ln w="12700">
            <a:solidFill>
              <a:srgbClr val="4A1A5E"/>
            </a:solidFill>
            <a:prstDash val="solid"/>
          </a:ln>
        </p:spPr>
      </p:sp>
      <p:sp>
        <p:nvSpPr>
          <p:cNvPr id="16" name="Text 13"/>
          <p:cNvSpPr txBox="1"/>
          <p:nvPr/>
        </p:nvSpPr>
        <p:spPr>
          <a:xfrm>
            <a:off x="9121140" y="2727960"/>
            <a:ext cx="194310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Git</a:t>
            </a:r>
            <a:endParaRPr lang="en-US" sz="2200" dirty="0"/>
          </a:p>
        </p:txBody>
      </p:sp>
      <p:sp>
        <p:nvSpPr>
          <p:cNvPr id="17" name="Text 14"/>
          <p:cNvSpPr txBox="1"/>
          <p:nvPr/>
        </p:nvSpPr>
        <p:spPr>
          <a:xfrm>
            <a:off x="9121140" y="3322320"/>
            <a:ext cx="1943100" cy="2575560"/>
          </a:xfrm>
          <a:prstGeom prst="rect">
            <a:avLst/>
          </a:prstGeom>
          <a:noFill/>
          <a:ln/>
        </p:spPr>
        <p:txBody>
          <a:bodyPr wrap="square" lIns="0" tIns="0" rIns="0" bIns="0" rtlCol="0" anchor="t"/>
          <a:lstStyle/>
          <a:p>
            <a:pPr indent="0" marL="0">
              <a:buNone/>
            </a:pPr>
            <a:r>
              <a:rPr lang="en-US" sz="2800" dirty="0">
                <a:solidFill>
                  <a:schemeClr val="bg2"/>
                </a:solidFill>
              </a:rPr>
              <a:t>Magit-style git, diff and merge</a:t>
            </a:r>
            <a:endParaRPr lang="en-US" sz="28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fzf without fzf</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zmax / picker</a:t>
            </a:r>
            <a:endParaRPr lang="en-US" sz="1200" dirty="0"/>
          </a:p>
        </p:txBody>
      </p:sp>
      <p:sp>
        <p:nvSpPr>
          <p:cNvPr id="5" name="Text 2"/>
          <p:cNvSpPr txBox="1"/>
          <p:nvPr/>
        </p:nvSpPr>
        <p:spPr>
          <a:xfrm>
            <a:off x="822960" y="1463040"/>
            <a:ext cx="10515600" cy="775970"/>
          </a:xfrm>
          <a:prstGeom prst="rect">
            <a:avLst/>
          </a:prstGeom>
          <a:noFill/>
          <a:ln/>
        </p:spPr>
        <p:txBody>
          <a:bodyPr wrap="square" lIns="0" tIns="0" rIns="0" bIns="0" rtlCol="0" anchor="t"/>
          <a:lstStyle/>
          <a:p>
            <a:pPr indent="0" marL="0">
              <a:buNone/>
            </a:pPr>
            <a:r>
              <a:rPr lang="en-US" sz="2300" dirty="0">
                <a:solidFill>
                  <a:schemeClr val="bg2"/>
                </a:solidFill>
              </a:rPr>
              <a:t>The :Files and :Rg family is arb --fzf running in this process, honouring every FZF_* variable. No fork, no exec and no binary to install.</a:t>
            </a:r>
            <a:endParaRPr lang="en-US" sz="2300" dirty="0"/>
          </a:p>
        </p:txBody>
      </p:sp>
      <p:sp>
        <p:nvSpPr>
          <p:cNvPr id="6" name="Shape 3"/>
          <p:cNvSpPr/>
          <p:nvPr/>
        </p:nvSpPr>
        <p:spPr>
          <a:xfrm>
            <a:off x="822960" y="2467610"/>
            <a:ext cx="2491740" cy="3658870"/>
          </a:xfrm>
          <a:prstGeom prst="roundRect">
            <a:avLst>
              <a:gd name="adj" fmla="val 4404"/>
            </a:avLst>
          </a:prstGeom>
          <a:solidFill>
            <a:schemeClr val="tx2"/>
          </a:solidFill>
          <a:ln w="12700">
            <a:solidFill>
              <a:srgbClr val="4A1A5E"/>
            </a:solidFill>
            <a:prstDash val="solid"/>
          </a:ln>
        </p:spPr>
      </p:sp>
      <p:sp>
        <p:nvSpPr>
          <p:cNvPr id="7" name="Text 4"/>
          <p:cNvSpPr txBox="1"/>
          <p:nvPr/>
        </p:nvSpPr>
        <p:spPr>
          <a:xfrm>
            <a:off x="1097280" y="2696210"/>
            <a:ext cx="194310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In process</a:t>
            </a:r>
            <a:endParaRPr lang="en-US" sz="2200" dirty="0"/>
          </a:p>
        </p:txBody>
      </p:sp>
      <p:sp>
        <p:nvSpPr>
          <p:cNvPr id="8" name="Text 5"/>
          <p:cNvSpPr txBox="1"/>
          <p:nvPr/>
        </p:nvSpPr>
        <p:spPr>
          <a:xfrm>
            <a:off x="1097280" y="3290570"/>
            <a:ext cx="1943100" cy="2607310"/>
          </a:xfrm>
          <a:prstGeom prst="rect">
            <a:avLst/>
          </a:prstGeom>
          <a:noFill/>
          <a:ln/>
        </p:spPr>
        <p:txBody>
          <a:bodyPr wrap="square" lIns="0" tIns="0" rIns="0" bIns="0" rtlCol="0" anchor="t"/>
          <a:lstStyle/>
          <a:p>
            <a:pPr indent="0" marL="0">
              <a:buNone/>
            </a:pPr>
            <a:r>
              <a:rPr lang="en-US" sz="2800" dirty="0">
                <a:solidFill>
                  <a:schemeClr val="bg2"/>
                </a:solidFill>
              </a:rPr>
              <a:t>A function call, not a subprocess</a:t>
            </a:r>
            <a:endParaRPr lang="en-US" sz="2800" dirty="0"/>
          </a:p>
        </p:txBody>
      </p:sp>
      <p:sp>
        <p:nvSpPr>
          <p:cNvPr id="9" name="Shape 6"/>
          <p:cNvSpPr/>
          <p:nvPr/>
        </p:nvSpPr>
        <p:spPr>
          <a:xfrm>
            <a:off x="3497580" y="2467610"/>
            <a:ext cx="2491740" cy="3658870"/>
          </a:xfrm>
          <a:prstGeom prst="roundRect">
            <a:avLst>
              <a:gd name="adj" fmla="val 4404"/>
            </a:avLst>
          </a:prstGeom>
          <a:solidFill>
            <a:schemeClr val="tx2"/>
          </a:solidFill>
          <a:ln w="12700">
            <a:solidFill>
              <a:srgbClr val="4A1A5E"/>
            </a:solidFill>
            <a:prstDash val="solid"/>
          </a:ln>
        </p:spPr>
      </p:sp>
      <p:sp>
        <p:nvSpPr>
          <p:cNvPr id="10" name="Text 7"/>
          <p:cNvSpPr txBox="1"/>
          <p:nvPr/>
        </p:nvSpPr>
        <p:spPr>
          <a:xfrm>
            <a:off x="3771900" y="2696210"/>
            <a:ext cx="194310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Compatible</a:t>
            </a:r>
            <a:endParaRPr lang="en-US" sz="2200" dirty="0"/>
          </a:p>
        </p:txBody>
      </p:sp>
      <p:sp>
        <p:nvSpPr>
          <p:cNvPr id="11" name="Text 8"/>
          <p:cNvSpPr txBox="1"/>
          <p:nvPr/>
        </p:nvSpPr>
        <p:spPr>
          <a:xfrm>
            <a:off x="3771900" y="3290570"/>
            <a:ext cx="1943100" cy="2607310"/>
          </a:xfrm>
          <a:prstGeom prst="rect">
            <a:avLst/>
          </a:prstGeom>
          <a:noFill/>
          <a:ln/>
        </p:spPr>
        <p:txBody>
          <a:bodyPr wrap="square" lIns="0" tIns="0" rIns="0" bIns="0" rtlCol="0" anchor="t"/>
          <a:lstStyle/>
          <a:p>
            <a:pPr indent="0" marL="0">
              <a:buNone/>
            </a:pPr>
            <a:r>
              <a:rPr lang="en-US" sz="2800" dirty="0">
                <a:solidFill>
                  <a:schemeClr val="bg2"/>
                </a:solidFill>
              </a:rPr>
              <a:t>Reads the user's fzf configuration</a:t>
            </a:r>
            <a:endParaRPr lang="en-US" sz="2800" dirty="0"/>
          </a:p>
        </p:txBody>
      </p:sp>
      <p:sp>
        <p:nvSpPr>
          <p:cNvPr id="12" name="Shape 9"/>
          <p:cNvSpPr/>
          <p:nvPr/>
        </p:nvSpPr>
        <p:spPr>
          <a:xfrm>
            <a:off x="6172200" y="2467610"/>
            <a:ext cx="2491740" cy="3658870"/>
          </a:xfrm>
          <a:prstGeom prst="roundRect">
            <a:avLst>
              <a:gd name="adj" fmla="val 4404"/>
            </a:avLst>
          </a:prstGeom>
          <a:solidFill>
            <a:schemeClr val="tx2"/>
          </a:solidFill>
          <a:ln w="12700">
            <a:solidFill>
              <a:srgbClr val="4A1A5E"/>
            </a:solidFill>
            <a:prstDash val="solid"/>
          </a:ln>
        </p:spPr>
      </p:sp>
      <p:sp>
        <p:nvSpPr>
          <p:cNvPr id="13" name="Text 10"/>
          <p:cNvSpPr txBox="1"/>
          <p:nvPr/>
        </p:nvSpPr>
        <p:spPr>
          <a:xfrm>
            <a:off x="6446520" y="2696210"/>
            <a:ext cx="194310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Palette</a:t>
            </a:r>
            <a:endParaRPr lang="en-US" sz="2200" dirty="0"/>
          </a:p>
        </p:txBody>
      </p:sp>
      <p:sp>
        <p:nvSpPr>
          <p:cNvPr id="14" name="Text 11"/>
          <p:cNvSpPr txBox="1"/>
          <p:nvPr/>
        </p:nvSpPr>
        <p:spPr>
          <a:xfrm>
            <a:off x="6446520" y="3290570"/>
            <a:ext cx="1943100" cy="2607310"/>
          </a:xfrm>
          <a:prstGeom prst="rect">
            <a:avLst/>
          </a:prstGeom>
          <a:noFill/>
          <a:ln/>
        </p:spPr>
        <p:txBody>
          <a:bodyPr wrap="square" lIns="0" tIns="0" rIns="0" bIns="0" rtlCol="0" anchor="t"/>
          <a:lstStyle/>
          <a:p>
            <a:pPr indent="0" marL="0">
              <a:buNone/>
            </a:pPr>
            <a:r>
              <a:rPr lang="en-US" sz="2800" dirty="0">
                <a:solidFill>
                  <a:schemeClr val="bg2"/>
                </a:solidFill>
              </a:rPr>
              <a:t>Paints fzf's own colours</a:t>
            </a:r>
            <a:endParaRPr lang="en-US" sz="2800" dirty="0"/>
          </a:p>
        </p:txBody>
      </p:sp>
      <p:sp>
        <p:nvSpPr>
          <p:cNvPr id="15" name="Shape 12"/>
          <p:cNvSpPr/>
          <p:nvPr/>
        </p:nvSpPr>
        <p:spPr>
          <a:xfrm>
            <a:off x="8846820" y="2467610"/>
            <a:ext cx="2491740" cy="3658870"/>
          </a:xfrm>
          <a:prstGeom prst="roundRect">
            <a:avLst>
              <a:gd name="adj" fmla="val 4404"/>
            </a:avLst>
          </a:prstGeom>
          <a:solidFill>
            <a:schemeClr val="tx2"/>
          </a:solidFill>
          <a:ln w="12700">
            <a:solidFill>
              <a:srgbClr val="4A1A5E"/>
            </a:solidFill>
            <a:prstDash val="solid"/>
          </a:ln>
        </p:spPr>
      </p:sp>
      <p:sp>
        <p:nvSpPr>
          <p:cNvPr id="16" name="Text 13"/>
          <p:cNvSpPr txBox="1"/>
          <p:nvPr/>
        </p:nvSpPr>
        <p:spPr>
          <a:xfrm>
            <a:off x="9121140" y="2696210"/>
            <a:ext cx="194310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Exports</a:t>
            </a:r>
            <a:endParaRPr lang="en-US" sz="2200" dirty="0"/>
          </a:p>
        </p:txBody>
      </p:sp>
      <p:sp>
        <p:nvSpPr>
          <p:cNvPr id="17" name="Text 14"/>
          <p:cNvSpPr txBox="1"/>
          <p:nvPr/>
        </p:nvSpPr>
        <p:spPr>
          <a:xfrm>
            <a:off x="9121140" y="3290570"/>
            <a:ext cx="1943100" cy="2607310"/>
          </a:xfrm>
          <a:prstGeom prst="rect">
            <a:avLst/>
          </a:prstGeom>
          <a:noFill/>
          <a:ln/>
        </p:spPr>
        <p:txBody>
          <a:bodyPr wrap="square" lIns="0" tIns="0" rIns="0" bIns="0" rtlCol="0" anchor="t"/>
          <a:lstStyle/>
          <a:p>
            <a:pPr indent="0" marL="0">
              <a:buNone/>
            </a:pPr>
            <a:r>
              <a:rPr lang="en-US" sz="2800" dirty="0">
                <a:solidFill>
                  <a:schemeClr val="bg2"/>
                </a:solidFill>
              </a:rPr>
              <a:t>FZF_QUERY and friends</a:t>
            </a:r>
            <a:endParaRPr lang="en-US" sz="28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GitHub and CI in the editor</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zmax / github</a:t>
            </a:r>
            <a:endParaRPr lang="en-US" sz="1200" dirty="0"/>
          </a:p>
        </p:txBody>
      </p:sp>
      <p:sp>
        <p:nvSpPr>
          <p:cNvPr id="5" name="Text 2"/>
          <p:cNvSpPr txBox="1"/>
          <p:nvPr/>
        </p:nvSpPr>
        <p:spPr>
          <a:xfrm>
            <a:off x="822960" y="1463040"/>
            <a:ext cx="10515600" cy="775970"/>
          </a:xfrm>
          <a:prstGeom prst="rect">
            <a:avLst/>
          </a:prstGeom>
          <a:noFill/>
          <a:ln/>
        </p:spPr>
        <p:txBody>
          <a:bodyPr wrap="square" lIns="0" tIns="0" rIns="0" bIns="0" rtlCol="0" anchor="t"/>
          <a:lstStyle/>
          <a:p>
            <a:pPr indent="0" marL="0">
              <a:buNone/>
            </a:pPr>
            <a:r>
              <a:rPr lang="en-US" sz="2300" dirty="0">
                <a:solidFill>
                  <a:schemeClr val="bg2"/>
                </a:solidFill>
              </a:rPr>
              <a:t>:github is the forge in nine tabs: CI runs with foldable logs, workflows, pull requests, issues, releases, branches, commits and notifications.</a:t>
            </a:r>
            <a:endParaRPr lang="en-US" sz="2300" dirty="0"/>
          </a:p>
        </p:txBody>
      </p:sp>
      <p:sp>
        <p:nvSpPr>
          <p:cNvPr id="6" name="Shape 3"/>
          <p:cNvSpPr/>
          <p:nvPr/>
        </p:nvSpPr>
        <p:spPr>
          <a:xfrm>
            <a:off x="822960" y="2467610"/>
            <a:ext cx="2491740" cy="3658870"/>
          </a:xfrm>
          <a:prstGeom prst="roundRect">
            <a:avLst>
              <a:gd name="adj" fmla="val 4404"/>
            </a:avLst>
          </a:prstGeom>
          <a:solidFill>
            <a:schemeClr val="tx2"/>
          </a:solidFill>
          <a:ln w="12700">
            <a:solidFill>
              <a:srgbClr val="4A1A5E"/>
            </a:solidFill>
            <a:prstDash val="solid"/>
          </a:ln>
        </p:spPr>
      </p:sp>
      <p:sp>
        <p:nvSpPr>
          <p:cNvPr id="7" name="Text 4"/>
          <p:cNvSpPr txBox="1"/>
          <p:nvPr/>
        </p:nvSpPr>
        <p:spPr>
          <a:xfrm>
            <a:off x="1097280" y="2696210"/>
            <a:ext cx="19431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CI</a:t>
            </a:r>
            <a:endParaRPr lang="en-US" sz="2600" dirty="0"/>
          </a:p>
        </p:txBody>
      </p:sp>
      <p:sp>
        <p:nvSpPr>
          <p:cNvPr id="8" name="Text 5"/>
          <p:cNvSpPr txBox="1"/>
          <p:nvPr/>
        </p:nvSpPr>
        <p:spPr>
          <a:xfrm>
            <a:off x="1097280" y="3290570"/>
            <a:ext cx="1943100" cy="2607310"/>
          </a:xfrm>
          <a:prstGeom prst="rect">
            <a:avLst/>
          </a:prstGeom>
          <a:noFill/>
          <a:ln/>
        </p:spPr>
        <p:txBody>
          <a:bodyPr wrap="square" lIns="0" tIns="0" rIns="0" bIns="0" rtlCol="0" anchor="t"/>
          <a:lstStyle/>
          <a:p>
            <a:pPr indent="0" marL="0">
              <a:buNone/>
            </a:pPr>
            <a:r>
              <a:rPr lang="en-US" sz="2800" dirty="0">
                <a:solidFill>
                  <a:schemeClr val="bg2"/>
                </a:solidFill>
              </a:rPr>
              <a:t>Rerun, rerun-failed, cancel, dispatch</a:t>
            </a:r>
            <a:endParaRPr lang="en-US" sz="2800" dirty="0"/>
          </a:p>
        </p:txBody>
      </p:sp>
      <p:sp>
        <p:nvSpPr>
          <p:cNvPr id="9" name="Shape 6"/>
          <p:cNvSpPr/>
          <p:nvPr/>
        </p:nvSpPr>
        <p:spPr>
          <a:xfrm>
            <a:off x="3497580" y="2467610"/>
            <a:ext cx="2491740" cy="3658870"/>
          </a:xfrm>
          <a:prstGeom prst="roundRect">
            <a:avLst>
              <a:gd name="adj" fmla="val 4404"/>
            </a:avLst>
          </a:prstGeom>
          <a:solidFill>
            <a:schemeClr val="tx2"/>
          </a:solidFill>
          <a:ln w="12700">
            <a:solidFill>
              <a:srgbClr val="4A1A5E"/>
            </a:solidFill>
            <a:prstDash val="solid"/>
          </a:ln>
        </p:spPr>
      </p:sp>
      <p:sp>
        <p:nvSpPr>
          <p:cNvPr id="10" name="Text 7"/>
          <p:cNvSpPr txBox="1"/>
          <p:nvPr/>
        </p:nvSpPr>
        <p:spPr>
          <a:xfrm>
            <a:off x="3771900" y="2696210"/>
            <a:ext cx="19431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Live</a:t>
            </a:r>
            <a:endParaRPr lang="en-US" sz="2600" dirty="0"/>
          </a:p>
        </p:txBody>
      </p:sp>
      <p:sp>
        <p:nvSpPr>
          <p:cNvPr id="11" name="Text 8"/>
          <p:cNvSpPr txBox="1"/>
          <p:nvPr/>
        </p:nvSpPr>
        <p:spPr>
          <a:xfrm>
            <a:off x="3771900" y="3290570"/>
            <a:ext cx="1943100" cy="2607310"/>
          </a:xfrm>
          <a:prstGeom prst="rect">
            <a:avLst/>
          </a:prstGeom>
          <a:noFill/>
          <a:ln/>
        </p:spPr>
        <p:txBody>
          <a:bodyPr wrap="square" lIns="0" tIns="0" rIns="0" bIns="0" rtlCol="0" anchor="t"/>
          <a:lstStyle/>
          <a:p>
            <a:pPr indent="0" marL="0">
              <a:buNone/>
            </a:pPr>
            <a:r>
              <a:rPr lang="en-US" sz="2800" dirty="0">
                <a:solidFill>
                  <a:schemeClr val="bg2"/>
                </a:solidFill>
              </a:rPr>
              <a:t>Auto-refresh while a pipeline runs</a:t>
            </a:r>
            <a:endParaRPr lang="en-US" sz="2800" dirty="0"/>
          </a:p>
        </p:txBody>
      </p:sp>
      <p:sp>
        <p:nvSpPr>
          <p:cNvPr id="12" name="Shape 9"/>
          <p:cNvSpPr/>
          <p:nvPr/>
        </p:nvSpPr>
        <p:spPr>
          <a:xfrm>
            <a:off x="6172200" y="2467610"/>
            <a:ext cx="2491740" cy="3658870"/>
          </a:xfrm>
          <a:prstGeom prst="roundRect">
            <a:avLst>
              <a:gd name="adj" fmla="val 4404"/>
            </a:avLst>
          </a:prstGeom>
          <a:solidFill>
            <a:schemeClr val="tx2"/>
          </a:solidFill>
          <a:ln w="12700">
            <a:solidFill>
              <a:srgbClr val="4A1A5E"/>
            </a:solidFill>
            <a:prstDash val="solid"/>
          </a:ln>
        </p:spPr>
      </p:sp>
      <p:sp>
        <p:nvSpPr>
          <p:cNvPr id="13" name="Text 10"/>
          <p:cNvSpPr txBox="1"/>
          <p:nvPr/>
        </p:nvSpPr>
        <p:spPr>
          <a:xfrm>
            <a:off x="6446520" y="2696210"/>
            <a:ext cx="19431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Auth</a:t>
            </a:r>
            <a:endParaRPr lang="en-US" sz="2600" dirty="0"/>
          </a:p>
        </p:txBody>
      </p:sp>
      <p:sp>
        <p:nvSpPr>
          <p:cNvPr id="14" name="Text 11"/>
          <p:cNvSpPr txBox="1"/>
          <p:nvPr/>
        </p:nvSpPr>
        <p:spPr>
          <a:xfrm>
            <a:off x="6446520" y="3290570"/>
            <a:ext cx="1943100" cy="2607310"/>
          </a:xfrm>
          <a:prstGeom prst="rect">
            <a:avLst/>
          </a:prstGeom>
          <a:noFill/>
          <a:ln/>
        </p:spPr>
        <p:txBody>
          <a:bodyPr wrap="square" lIns="0" tIns="0" rIns="0" bIns="0" rtlCol="0" anchor="t"/>
          <a:lstStyle/>
          <a:p>
            <a:pPr indent="0" marL="0">
              <a:buNone/>
            </a:pPr>
            <a:r>
              <a:rPr lang="en-US" sz="2800" dirty="0">
                <a:solidFill>
                  <a:schemeClr val="bg2"/>
                </a:solidFill>
              </a:rPr>
              <a:t>gh CLI else $GITHUB_TOKEN</a:t>
            </a:r>
            <a:endParaRPr lang="en-US" sz="2800" dirty="0"/>
          </a:p>
        </p:txBody>
      </p:sp>
      <p:sp>
        <p:nvSpPr>
          <p:cNvPr id="15" name="Shape 12"/>
          <p:cNvSpPr/>
          <p:nvPr/>
        </p:nvSpPr>
        <p:spPr>
          <a:xfrm>
            <a:off x="8846820" y="2467610"/>
            <a:ext cx="2491740" cy="3658870"/>
          </a:xfrm>
          <a:prstGeom prst="roundRect">
            <a:avLst>
              <a:gd name="adj" fmla="val 4404"/>
            </a:avLst>
          </a:prstGeom>
          <a:solidFill>
            <a:schemeClr val="tx2"/>
          </a:solidFill>
          <a:ln w="12700">
            <a:solidFill>
              <a:srgbClr val="4A1A5E"/>
            </a:solidFill>
            <a:prstDash val="solid"/>
          </a:ln>
        </p:spPr>
      </p:sp>
      <p:sp>
        <p:nvSpPr>
          <p:cNvPr id="16" name="Text 13"/>
          <p:cNvSpPr txBox="1"/>
          <p:nvPr/>
        </p:nvSpPr>
        <p:spPr>
          <a:xfrm>
            <a:off x="9121140" y="2696210"/>
            <a:ext cx="19431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PRs</a:t>
            </a:r>
            <a:endParaRPr lang="en-US" sz="2600" dirty="0"/>
          </a:p>
        </p:txBody>
      </p:sp>
      <p:sp>
        <p:nvSpPr>
          <p:cNvPr id="17" name="Text 14"/>
          <p:cNvSpPr txBox="1"/>
          <p:nvPr/>
        </p:nvSpPr>
        <p:spPr>
          <a:xfrm>
            <a:off x="9121140" y="3290570"/>
            <a:ext cx="1943100" cy="2607310"/>
          </a:xfrm>
          <a:prstGeom prst="rect">
            <a:avLst/>
          </a:prstGeom>
          <a:noFill/>
          <a:ln/>
        </p:spPr>
        <p:txBody>
          <a:bodyPr wrap="square" lIns="0" tIns="0" rIns="0" bIns="0" rtlCol="0" anchor="t"/>
          <a:lstStyle/>
          <a:p>
            <a:pPr indent="0" marL="0">
              <a:buNone/>
            </a:pPr>
            <a:r>
              <a:rPr lang="en-US" sz="2800" dirty="0">
                <a:solidFill>
                  <a:schemeClr val="bg2"/>
                </a:solidFill>
              </a:rPr>
              <a:t>Checks and diffs</a:t>
            </a:r>
            <a:endParaRPr lang="en-US" sz="28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Batteries</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zmax / tui</a:t>
            </a:r>
            <a:endParaRPr lang="en-US" sz="1200" dirty="0"/>
          </a:p>
        </p:txBody>
      </p:sp>
      <p:sp>
        <p:nvSpPr>
          <p:cNvPr id="5" name="Text 2"/>
          <p:cNvSpPr txBox="1"/>
          <p:nvPr/>
        </p:nvSpPr>
        <p:spPr>
          <a:xfrm>
            <a:off x="822960" y="1463040"/>
            <a:ext cx="10515600" cy="426720"/>
          </a:xfrm>
          <a:prstGeom prst="rect">
            <a:avLst/>
          </a:prstGeom>
          <a:noFill/>
          <a:ln/>
        </p:spPr>
        <p:txBody>
          <a:bodyPr wrap="square" lIns="0" tIns="0" rIns="0" bIns="0" rtlCol="0" anchor="t"/>
          <a:lstStyle/>
          <a:p>
            <a:pPr indent="0" marL="0">
              <a:buNone/>
            </a:pPr>
            <a:r>
              <a:rPr lang="en-US" sz="2400" dirty="0">
                <a:solidFill>
                  <a:schemeClr val="bg2"/>
                </a:solidFill>
              </a:rPr>
              <a:t>Panels for tasks that usually mean leaving the editor.</a:t>
            </a:r>
            <a:endParaRPr lang="en-US" sz="2400" dirty="0"/>
          </a:p>
        </p:txBody>
      </p:sp>
      <p:sp>
        <p:nvSpPr>
          <p:cNvPr id="6" name="Shape 3"/>
          <p:cNvSpPr/>
          <p:nvPr/>
        </p:nvSpPr>
        <p:spPr>
          <a:xfrm>
            <a:off x="822960" y="2118360"/>
            <a:ext cx="2491740" cy="4008120"/>
          </a:xfrm>
          <a:prstGeom prst="roundRect">
            <a:avLst>
              <a:gd name="adj" fmla="val 4404"/>
            </a:avLst>
          </a:prstGeom>
          <a:solidFill>
            <a:schemeClr val="tx2"/>
          </a:solidFill>
          <a:ln w="12700">
            <a:solidFill>
              <a:srgbClr val="4A1A5E"/>
            </a:solidFill>
            <a:prstDash val="solid"/>
          </a:ln>
        </p:spPr>
      </p:sp>
      <p:sp>
        <p:nvSpPr>
          <p:cNvPr id="7" name="Text 4"/>
          <p:cNvSpPr txBox="1"/>
          <p:nvPr/>
        </p:nvSpPr>
        <p:spPr>
          <a:xfrm>
            <a:off x="1097280" y="2346960"/>
            <a:ext cx="194310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Hex editor</a:t>
            </a:r>
            <a:endParaRPr lang="en-US" sz="2200" dirty="0"/>
          </a:p>
        </p:txBody>
      </p:sp>
      <p:sp>
        <p:nvSpPr>
          <p:cNvPr id="8" name="Text 5"/>
          <p:cNvSpPr txBox="1"/>
          <p:nvPr/>
        </p:nvSpPr>
        <p:spPr>
          <a:xfrm>
            <a:off x="1097280" y="2941320"/>
            <a:ext cx="1943100" cy="2956560"/>
          </a:xfrm>
          <a:prstGeom prst="rect">
            <a:avLst/>
          </a:prstGeom>
          <a:noFill/>
          <a:ln/>
        </p:spPr>
        <p:txBody>
          <a:bodyPr wrap="square" lIns="0" tIns="0" rIns="0" bIns="0" rtlCol="0" anchor="t"/>
          <a:lstStyle/>
          <a:p>
            <a:pPr indent="0" marL="0">
              <a:buNone/>
            </a:pPr>
            <a:r>
              <a:rPr lang="en-US" sz="2800" dirty="0">
                <a:solidFill>
                  <a:schemeClr val="bg2"/>
                </a:solidFill>
              </a:rPr>
              <a:t>Binary files open here</a:t>
            </a:r>
            <a:endParaRPr lang="en-US" sz="2800" dirty="0"/>
          </a:p>
        </p:txBody>
      </p:sp>
      <p:sp>
        <p:nvSpPr>
          <p:cNvPr id="9" name="Shape 6"/>
          <p:cNvSpPr/>
          <p:nvPr/>
        </p:nvSpPr>
        <p:spPr>
          <a:xfrm>
            <a:off x="3497580" y="2118360"/>
            <a:ext cx="2491740" cy="4008120"/>
          </a:xfrm>
          <a:prstGeom prst="roundRect">
            <a:avLst>
              <a:gd name="adj" fmla="val 4404"/>
            </a:avLst>
          </a:prstGeom>
          <a:solidFill>
            <a:schemeClr val="tx2"/>
          </a:solidFill>
          <a:ln w="12700">
            <a:solidFill>
              <a:srgbClr val="4A1A5E"/>
            </a:solidFill>
            <a:prstDash val="solid"/>
          </a:ln>
        </p:spPr>
      </p:sp>
      <p:sp>
        <p:nvSpPr>
          <p:cNvPr id="10" name="Text 7"/>
          <p:cNvSpPr txBox="1"/>
          <p:nvPr/>
        </p:nvSpPr>
        <p:spPr>
          <a:xfrm>
            <a:off x="3771900" y="2346960"/>
            <a:ext cx="194310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Snippets</a:t>
            </a:r>
            <a:endParaRPr lang="en-US" sz="2200" dirty="0"/>
          </a:p>
        </p:txBody>
      </p:sp>
      <p:sp>
        <p:nvSpPr>
          <p:cNvPr id="11" name="Text 8"/>
          <p:cNvSpPr txBox="1"/>
          <p:nvPr/>
        </p:nvSpPr>
        <p:spPr>
          <a:xfrm>
            <a:off x="3771900" y="2941320"/>
            <a:ext cx="1943100" cy="2956560"/>
          </a:xfrm>
          <a:prstGeom prst="rect">
            <a:avLst/>
          </a:prstGeom>
          <a:noFill/>
          <a:ln/>
        </p:spPr>
        <p:txBody>
          <a:bodyPr wrap="square" lIns="0" tIns="0" rIns="0" bIns="0" rtlCol="0" anchor="t"/>
          <a:lstStyle/>
          <a:p>
            <a:pPr indent="0" marL="0">
              <a:buNone/>
            </a:pPr>
            <a:r>
              <a:rPr lang="en-US" sz="2800" dirty="0">
                <a:solidFill>
                  <a:schemeClr val="bg2"/>
                </a:solidFill>
              </a:rPr>
              <a:t>Triggers with live tab stops</a:t>
            </a:r>
            <a:endParaRPr lang="en-US" sz="2800" dirty="0"/>
          </a:p>
        </p:txBody>
      </p:sp>
      <p:sp>
        <p:nvSpPr>
          <p:cNvPr id="12" name="Shape 9"/>
          <p:cNvSpPr/>
          <p:nvPr/>
        </p:nvSpPr>
        <p:spPr>
          <a:xfrm>
            <a:off x="6172200" y="2118360"/>
            <a:ext cx="2491740" cy="4008120"/>
          </a:xfrm>
          <a:prstGeom prst="roundRect">
            <a:avLst>
              <a:gd name="adj" fmla="val 4404"/>
            </a:avLst>
          </a:prstGeom>
          <a:solidFill>
            <a:schemeClr val="tx2"/>
          </a:solidFill>
          <a:ln w="12700">
            <a:solidFill>
              <a:srgbClr val="4A1A5E"/>
            </a:solidFill>
            <a:prstDash val="solid"/>
          </a:ln>
        </p:spPr>
      </p:sp>
      <p:sp>
        <p:nvSpPr>
          <p:cNvPr id="13" name="Text 10"/>
          <p:cNvSpPr txBox="1"/>
          <p:nvPr/>
        </p:nvSpPr>
        <p:spPr>
          <a:xfrm>
            <a:off x="6446520" y="2346960"/>
            <a:ext cx="194310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Org-mode</a:t>
            </a:r>
            <a:endParaRPr lang="en-US" sz="2200" dirty="0"/>
          </a:p>
        </p:txBody>
      </p:sp>
      <p:sp>
        <p:nvSpPr>
          <p:cNvPr id="14" name="Text 11"/>
          <p:cNvSpPr txBox="1"/>
          <p:nvPr/>
        </p:nvSpPr>
        <p:spPr>
          <a:xfrm>
            <a:off x="6446520" y="2941320"/>
            <a:ext cx="1943100" cy="2956560"/>
          </a:xfrm>
          <a:prstGeom prst="rect">
            <a:avLst/>
          </a:prstGeom>
          <a:noFill/>
          <a:ln/>
        </p:spPr>
        <p:txBody>
          <a:bodyPr wrap="square" lIns="0" tIns="0" rIns="0" bIns="0" rtlCol="0" anchor="t"/>
          <a:lstStyle/>
          <a:p>
            <a:pPr indent="0" marL="0">
              <a:buNone/>
            </a:pPr>
            <a:r>
              <a:rPr lang="en-US" sz="2800" dirty="0">
                <a:solidFill>
                  <a:schemeClr val="bg2"/>
                </a:solidFill>
              </a:rPr>
              <a:t>Folding, capture, agenda</a:t>
            </a:r>
            <a:endParaRPr lang="en-US" sz="2800" dirty="0"/>
          </a:p>
        </p:txBody>
      </p:sp>
      <p:sp>
        <p:nvSpPr>
          <p:cNvPr id="15" name="Shape 12"/>
          <p:cNvSpPr/>
          <p:nvPr/>
        </p:nvSpPr>
        <p:spPr>
          <a:xfrm>
            <a:off x="8846820" y="2118360"/>
            <a:ext cx="2491740" cy="4008120"/>
          </a:xfrm>
          <a:prstGeom prst="roundRect">
            <a:avLst>
              <a:gd name="adj" fmla="val 4404"/>
            </a:avLst>
          </a:prstGeom>
          <a:solidFill>
            <a:schemeClr val="tx2"/>
          </a:solidFill>
          <a:ln w="12700">
            <a:solidFill>
              <a:srgbClr val="4A1A5E"/>
            </a:solidFill>
            <a:prstDash val="solid"/>
          </a:ln>
        </p:spPr>
      </p:sp>
      <p:sp>
        <p:nvSpPr>
          <p:cNvPr id="16" name="Text 13"/>
          <p:cNvSpPr txBox="1"/>
          <p:nvPr/>
        </p:nvSpPr>
        <p:spPr>
          <a:xfrm>
            <a:off x="9121140" y="2346960"/>
            <a:ext cx="194310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Transforms</a:t>
            </a:r>
            <a:endParaRPr lang="en-US" sz="2200" dirty="0"/>
          </a:p>
        </p:txBody>
      </p:sp>
      <p:sp>
        <p:nvSpPr>
          <p:cNvPr id="17" name="Text 14"/>
          <p:cNvSpPr txBox="1"/>
          <p:nvPr/>
        </p:nvSpPr>
        <p:spPr>
          <a:xfrm>
            <a:off x="9121140" y="2941320"/>
            <a:ext cx="1943100" cy="2956560"/>
          </a:xfrm>
          <a:prstGeom prst="rect">
            <a:avLst/>
          </a:prstGeom>
          <a:noFill/>
          <a:ln/>
        </p:spPr>
        <p:txBody>
          <a:bodyPr wrap="square" lIns="0" tIns="0" rIns="0" bIns="0" rtlCol="0" anchor="t"/>
          <a:lstStyle/>
          <a:p>
            <a:pPr indent="0" marL="0">
              <a:buNone/>
            </a:pPr>
            <a:r>
              <a:rPr lang="en-US" sz="2800" dirty="0">
                <a:solidFill>
                  <a:schemeClr val="bg2"/>
                </a:solidFill>
              </a:rPr>
              <a:t>200+ selection commands</a:t>
            </a:r>
            <a:endParaRPr lang="en-US" sz="28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Embedded development</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zmax / embedded</a:t>
            </a:r>
            <a:endParaRPr lang="en-US" sz="1200" dirty="0"/>
          </a:p>
        </p:txBody>
      </p:sp>
      <p:sp>
        <p:nvSpPr>
          <p:cNvPr id="5" name="Text 2"/>
          <p:cNvSpPr txBox="1"/>
          <p:nvPr/>
        </p:nvSpPr>
        <p:spPr>
          <a:xfrm>
            <a:off x="822960" y="1463040"/>
            <a:ext cx="10515600" cy="807720"/>
          </a:xfrm>
          <a:prstGeom prst="rect">
            <a:avLst/>
          </a:prstGeom>
          <a:noFill/>
          <a:ln/>
        </p:spPr>
        <p:txBody>
          <a:bodyPr wrap="square" lIns="0" tIns="0" rIns="0" bIns="0" rtlCol="0" anchor="t"/>
          <a:lstStyle/>
          <a:p>
            <a:pPr indent="0" marL="0">
              <a:buNone/>
            </a:pPr>
            <a:r>
              <a:rPr lang="en-US" sz="2400" dirty="0">
                <a:solidFill>
                  <a:schemeClr val="bg2"/>
                </a:solidFill>
              </a:rPr>
              <a:t>Arduino and PlatformIO workflows driven through arduino-cli and pio, with per-project settings in embedded.toml.</a:t>
            </a:r>
            <a:endParaRPr lang="en-US" sz="2400" dirty="0"/>
          </a:p>
        </p:txBody>
      </p:sp>
      <p:sp>
        <p:nvSpPr>
          <p:cNvPr id="6" name="Shape 3"/>
          <p:cNvSpPr/>
          <p:nvPr/>
        </p:nvSpPr>
        <p:spPr>
          <a:xfrm>
            <a:off x="822960" y="2499360"/>
            <a:ext cx="2491740" cy="3627120"/>
          </a:xfrm>
          <a:prstGeom prst="roundRect">
            <a:avLst>
              <a:gd name="adj" fmla="val 4404"/>
            </a:avLst>
          </a:prstGeom>
          <a:solidFill>
            <a:schemeClr val="tx2"/>
          </a:solidFill>
          <a:ln w="12700">
            <a:solidFill>
              <a:srgbClr val="4A1A5E"/>
            </a:solidFill>
            <a:prstDash val="solid"/>
          </a:ln>
        </p:spPr>
      </p:sp>
      <p:sp>
        <p:nvSpPr>
          <p:cNvPr id="7" name="Text 4"/>
          <p:cNvSpPr txBox="1"/>
          <p:nvPr/>
        </p:nvSpPr>
        <p:spPr>
          <a:xfrm>
            <a:off x="1097280" y="2727960"/>
            <a:ext cx="1943100" cy="457200"/>
          </a:xfrm>
          <a:prstGeom prst="rect">
            <a:avLst/>
          </a:prstGeom>
          <a:noFill/>
          <a:ln/>
        </p:spPr>
        <p:txBody>
          <a:bodyPr wrap="square" lIns="0" tIns="0" rIns="0" bIns="0" rtlCol="0" anchor="t"/>
          <a:lstStyle/>
          <a:p>
            <a:pPr indent="0" marL="0">
              <a:buNone/>
            </a:pPr>
            <a:r>
              <a:rPr lang="en-US" sz="1400" b="1" dirty="0">
                <a:solidFill>
                  <a:schemeClr val="accent1"/>
                </a:solidFill>
                <a:latin typeface="Cambria" pitchFamily="34" charset="0"/>
                <a:ea typeface="Cambria" pitchFamily="34" charset="-122"/>
                <a:cs typeface="Cambria" pitchFamily="34" charset="-120"/>
              </a:rPr>
              <a:t>Build and flash</a:t>
            </a:r>
            <a:endParaRPr lang="en-US" sz="1400" dirty="0"/>
          </a:p>
        </p:txBody>
      </p:sp>
      <p:sp>
        <p:nvSpPr>
          <p:cNvPr id="8" name="Text 5"/>
          <p:cNvSpPr txBox="1"/>
          <p:nvPr/>
        </p:nvSpPr>
        <p:spPr>
          <a:xfrm>
            <a:off x="1097280" y="3322320"/>
            <a:ext cx="1943100" cy="2575560"/>
          </a:xfrm>
          <a:prstGeom prst="rect">
            <a:avLst/>
          </a:prstGeom>
          <a:noFill/>
          <a:ln/>
        </p:spPr>
        <p:txBody>
          <a:bodyPr wrap="square" lIns="0" tIns="0" rIns="0" bIns="0" rtlCol="0" anchor="t"/>
          <a:lstStyle/>
          <a:p>
            <a:pPr indent="0" marL="0">
              <a:buNone/>
            </a:pPr>
            <a:r>
              <a:rPr lang="en-US" sz="2800" dirty="0">
                <a:solidFill>
                  <a:schemeClr val="bg2"/>
                </a:solidFill>
              </a:rPr>
              <a:t>Compile, upload, clean, test, check</a:t>
            </a:r>
            <a:endParaRPr lang="en-US" sz="2800" dirty="0"/>
          </a:p>
        </p:txBody>
      </p:sp>
      <p:sp>
        <p:nvSpPr>
          <p:cNvPr id="9" name="Shape 6"/>
          <p:cNvSpPr/>
          <p:nvPr/>
        </p:nvSpPr>
        <p:spPr>
          <a:xfrm>
            <a:off x="3497580" y="2499360"/>
            <a:ext cx="2491740" cy="3627120"/>
          </a:xfrm>
          <a:prstGeom prst="roundRect">
            <a:avLst>
              <a:gd name="adj" fmla="val 4404"/>
            </a:avLst>
          </a:prstGeom>
          <a:solidFill>
            <a:schemeClr val="tx2"/>
          </a:solidFill>
          <a:ln w="12700">
            <a:solidFill>
              <a:srgbClr val="4A1A5E"/>
            </a:solidFill>
            <a:prstDash val="solid"/>
          </a:ln>
        </p:spPr>
      </p:sp>
      <p:sp>
        <p:nvSpPr>
          <p:cNvPr id="10" name="Text 7"/>
          <p:cNvSpPr txBox="1"/>
          <p:nvPr/>
        </p:nvSpPr>
        <p:spPr>
          <a:xfrm>
            <a:off x="3771900" y="2727960"/>
            <a:ext cx="1943100" cy="457200"/>
          </a:xfrm>
          <a:prstGeom prst="rect">
            <a:avLst/>
          </a:prstGeom>
          <a:noFill/>
          <a:ln/>
        </p:spPr>
        <p:txBody>
          <a:bodyPr wrap="square" lIns="0" tIns="0" rIns="0" bIns="0" rtlCol="0" anchor="t"/>
          <a:lstStyle/>
          <a:p>
            <a:pPr indent="0" marL="0">
              <a:buNone/>
            </a:pPr>
            <a:r>
              <a:rPr lang="en-US" sz="1400" b="1" dirty="0">
                <a:solidFill>
                  <a:schemeClr val="accent1"/>
                </a:solidFill>
                <a:latin typeface="Cambria" pitchFamily="34" charset="0"/>
                <a:ea typeface="Cambria" pitchFamily="34" charset="-122"/>
                <a:cs typeface="Cambria" pitchFamily="34" charset="-120"/>
              </a:rPr>
              <a:t>Serial</a:t>
            </a:r>
            <a:endParaRPr lang="en-US" sz="1400" dirty="0"/>
          </a:p>
        </p:txBody>
      </p:sp>
      <p:sp>
        <p:nvSpPr>
          <p:cNvPr id="11" name="Text 8"/>
          <p:cNvSpPr txBox="1"/>
          <p:nvPr/>
        </p:nvSpPr>
        <p:spPr>
          <a:xfrm>
            <a:off x="3771900" y="3322320"/>
            <a:ext cx="1943100" cy="2575560"/>
          </a:xfrm>
          <a:prstGeom prst="rect">
            <a:avLst/>
          </a:prstGeom>
          <a:noFill/>
          <a:ln/>
        </p:spPr>
        <p:txBody>
          <a:bodyPr wrap="square" lIns="0" tIns="0" rIns="0" bIns="0" rtlCol="0" anchor="t"/>
          <a:lstStyle/>
          <a:p>
            <a:pPr indent="0" marL="0">
              <a:buNone/>
            </a:pPr>
            <a:r>
              <a:rPr lang="en-US" sz="2800" dirty="0">
                <a:solidFill>
                  <a:schemeClr val="bg2"/>
                </a:solidFill>
              </a:rPr>
              <a:t>Live monitor and plotter</a:t>
            </a:r>
            <a:endParaRPr lang="en-US" sz="2800" dirty="0"/>
          </a:p>
        </p:txBody>
      </p:sp>
      <p:sp>
        <p:nvSpPr>
          <p:cNvPr id="12" name="Shape 9"/>
          <p:cNvSpPr/>
          <p:nvPr/>
        </p:nvSpPr>
        <p:spPr>
          <a:xfrm>
            <a:off x="6172200" y="2499360"/>
            <a:ext cx="2491740" cy="3627120"/>
          </a:xfrm>
          <a:prstGeom prst="roundRect">
            <a:avLst>
              <a:gd name="adj" fmla="val 4404"/>
            </a:avLst>
          </a:prstGeom>
          <a:solidFill>
            <a:schemeClr val="tx2"/>
          </a:solidFill>
          <a:ln w="12700">
            <a:solidFill>
              <a:srgbClr val="4A1A5E"/>
            </a:solidFill>
            <a:prstDash val="solid"/>
          </a:ln>
        </p:spPr>
      </p:sp>
      <p:sp>
        <p:nvSpPr>
          <p:cNvPr id="13" name="Text 10"/>
          <p:cNvSpPr txBox="1"/>
          <p:nvPr/>
        </p:nvSpPr>
        <p:spPr>
          <a:xfrm>
            <a:off x="6446520" y="2727960"/>
            <a:ext cx="1943100" cy="457200"/>
          </a:xfrm>
          <a:prstGeom prst="rect">
            <a:avLst/>
          </a:prstGeom>
          <a:noFill/>
          <a:ln/>
        </p:spPr>
        <p:txBody>
          <a:bodyPr wrap="square" lIns="0" tIns="0" rIns="0" bIns="0" rtlCol="0" anchor="t"/>
          <a:lstStyle/>
          <a:p>
            <a:pPr indent="0" marL="0">
              <a:buNone/>
            </a:pPr>
            <a:r>
              <a:rPr lang="en-US" sz="1400" b="1" dirty="0">
                <a:solidFill>
                  <a:schemeClr val="accent1"/>
                </a:solidFill>
                <a:latin typeface="Cambria" pitchFamily="34" charset="0"/>
                <a:ea typeface="Cambria" pitchFamily="34" charset="-122"/>
                <a:cs typeface="Cambria" pitchFamily="34" charset="-120"/>
              </a:rPr>
              <a:t>Libraries and boards</a:t>
            </a:r>
            <a:endParaRPr lang="en-US" sz="1400" dirty="0"/>
          </a:p>
        </p:txBody>
      </p:sp>
      <p:sp>
        <p:nvSpPr>
          <p:cNvPr id="14" name="Text 11"/>
          <p:cNvSpPr txBox="1"/>
          <p:nvPr/>
        </p:nvSpPr>
        <p:spPr>
          <a:xfrm>
            <a:off x="6446520" y="3322320"/>
            <a:ext cx="1943100" cy="2575560"/>
          </a:xfrm>
          <a:prstGeom prst="rect">
            <a:avLst/>
          </a:prstGeom>
          <a:noFill/>
          <a:ln/>
        </p:spPr>
        <p:txBody>
          <a:bodyPr wrap="square" lIns="0" tIns="0" rIns="0" bIns="0" rtlCol="0" anchor="t"/>
          <a:lstStyle/>
          <a:p>
            <a:pPr indent="0" marL="0">
              <a:buNone/>
            </a:pPr>
            <a:r>
              <a:rPr lang="en-US" sz="2800" dirty="0">
                <a:solidFill>
                  <a:schemeClr val="bg2"/>
                </a:solidFill>
              </a:rPr>
              <a:t>Search, install, manage</a:t>
            </a:r>
            <a:endParaRPr lang="en-US" sz="2800" dirty="0"/>
          </a:p>
        </p:txBody>
      </p:sp>
      <p:sp>
        <p:nvSpPr>
          <p:cNvPr id="15" name="Shape 12"/>
          <p:cNvSpPr/>
          <p:nvPr/>
        </p:nvSpPr>
        <p:spPr>
          <a:xfrm>
            <a:off x="8846820" y="2499360"/>
            <a:ext cx="2491740" cy="3627120"/>
          </a:xfrm>
          <a:prstGeom prst="roundRect">
            <a:avLst>
              <a:gd name="adj" fmla="val 4404"/>
            </a:avLst>
          </a:prstGeom>
          <a:solidFill>
            <a:schemeClr val="tx2"/>
          </a:solidFill>
          <a:ln w="12700">
            <a:solidFill>
              <a:srgbClr val="4A1A5E"/>
            </a:solidFill>
            <a:prstDash val="solid"/>
          </a:ln>
        </p:spPr>
      </p:sp>
      <p:sp>
        <p:nvSpPr>
          <p:cNvPr id="16" name="Text 13"/>
          <p:cNvSpPr txBox="1"/>
          <p:nvPr/>
        </p:nvSpPr>
        <p:spPr>
          <a:xfrm>
            <a:off x="9121140" y="2727960"/>
            <a:ext cx="1943100" cy="457200"/>
          </a:xfrm>
          <a:prstGeom prst="rect">
            <a:avLst/>
          </a:prstGeom>
          <a:noFill/>
          <a:ln/>
        </p:spPr>
        <p:txBody>
          <a:bodyPr wrap="square" lIns="0" tIns="0" rIns="0" bIns="0" rtlCol="0" anchor="t"/>
          <a:lstStyle/>
          <a:p>
            <a:pPr indent="0" marL="0">
              <a:buNone/>
            </a:pPr>
            <a:r>
              <a:rPr lang="en-US" sz="1400" b="1" dirty="0">
                <a:solidFill>
                  <a:schemeClr val="accent1"/>
                </a:solidFill>
                <a:latin typeface="Cambria" pitchFamily="34" charset="0"/>
                <a:ea typeface="Cambria" pitchFamily="34" charset="-122"/>
                <a:cs typeface="Cambria" pitchFamily="34" charset="-120"/>
              </a:rPr>
              <a:t>Passthrough</a:t>
            </a:r>
            <a:endParaRPr lang="en-US" sz="1400" dirty="0"/>
          </a:p>
        </p:txBody>
      </p:sp>
      <p:sp>
        <p:nvSpPr>
          <p:cNvPr id="17" name="Text 14"/>
          <p:cNvSpPr txBox="1"/>
          <p:nvPr/>
        </p:nvSpPr>
        <p:spPr>
          <a:xfrm>
            <a:off x="9121140" y="3322320"/>
            <a:ext cx="1943100" cy="2575560"/>
          </a:xfrm>
          <a:prstGeom prst="rect">
            <a:avLst/>
          </a:prstGeom>
          <a:noFill/>
          <a:ln/>
        </p:spPr>
        <p:txBody>
          <a:bodyPr wrap="square" lIns="0" tIns="0" rIns="0" bIns="0" rtlCol="0" anchor="t"/>
          <a:lstStyle/>
          <a:p>
            <a:pPr indent="0" marL="0">
              <a:buNone/>
            </a:pPr>
            <a:r>
              <a:rPr lang="en-US" sz="2800" dirty="0">
                <a:solidFill>
                  <a:schemeClr val="bg2"/>
                </a:solidFill>
              </a:rPr>
              <a:t>:pio and :arduino-cli run anything</a:t>
            </a:r>
            <a:endParaRPr lang="en-US" sz="28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Twelve languages, one process</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zmax / scripting</a:t>
            </a:r>
            <a:endParaRPr lang="en-US" sz="1200" dirty="0"/>
          </a:p>
        </p:txBody>
      </p:sp>
      <p:sp>
        <p:nvSpPr>
          <p:cNvPr id="5" name="Text 2"/>
          <p:cNvSpPr txBox="1"/>
          <p:nvPr/>
        </p:nvSpPr>
        <p:spPr>
          <a:xfrm>
            <a:off x="822960" y="1463040"/>
            <a:ext cx="10515600" cy="775970"/>
          </a:xfrm>
          <a:prstGeom prst="rect">
            <a:avLst/>
          </a:prstGeom>
          <a:noFill/>
          <a:ln/>
        </p:spPr>
        <p:txBody>
          <a:bodyPr wrap="square" lIns="0" tIns="0" rIns="0" bIns="0" rtlCol="0" anchor="t"/>
          <a:lstStyle/>
          <a:p>
            <a:pPr indent="0" marL="0">
              <a:buNone/>
            </a:pPr>
            <a:r>
              <a:rPr lang="en-US" sz="2300" dirty="0">
                <a:solidFill>
                  <a:schemeClr val="bg2"/>
                </a:solidFill>
              </a:rPr>
              <a:t>A world first claimed by the README: twelve scripting interpreters embedded with zero external dependencies and no FFI between them.</a:t>
            </a:r>
            <a:endParaRPr lang="en-US" sz="2300" dirty="0"/>
          </a:p>
        </p:txBody>
      </p:sp>
      <p:sp>
        <p:nvSpPr>
          <p:cNvPr id="6" name="Shape 3"/>
          <p:cNvSpPr/>
          <p:nvPr/>
        </p:nvSpPr>
        <p:spPr>
          <a:xfrm>
            <a:off x="822960" y="2467610"/>
            <a:ext cx="2491740" cy="3658870"/>
          </a:xfrm>
          <a:prstGeom prst="roundRect">
            <a:avLst>
              <a:gd name="adj" fmla="val 4404"/>
            </a:avLst>
          </a:prstGeom>
          <a:solidFill>
            <a:schemeClr val="tx2"/>
          </a:solidFill>
          <a:ln w="12700">
            <a:solidFill>
              <a:srgbClr val="4A1A5E"/>
            </a:solidFill>
            <a:prstDash val="solid"/>
          </a:ln>
        </p:spPr>
      </p:sp>
      <p:sp>
        <p:nvSpPr>
          <p:cNvPr id="7" name="Text 4"/>
          <p:cNvSpPr txBox="1"/>
          <p:nvPr/>
        </p:nvSpPr>
        <p:spPr>
          <a:xfrm>
            <a:off x="1097280" y="2696210"/>
            <a:ext cx="19431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Editor</a:t>
            </a:r>
            <a:endParaRPr lang="en-US" sz="2600" dirty="0"/>
          </a:p>
        </p:txBody>
      </p:sp>
      <p:sp>
        <p:nvSpPr>
          <p:cNvPr id="8" name="Text 5"/>
          <p:cNvSpPr txBox="1"/>
          <p:nvPr/>
        </p:nvSpPr>
        <p:spPr>
          <a:xfrm>
            <a:off x="1097280" y="3290570"/>
            <a:ext cx="1943100" cy="2607310"/>
          </a:xfrm>
          <a:prstGeom prst="rect">
            <a:avLst/>
          </a:prstGeom>
          <a:noFill/>
          <a:ln/>
        </p:spPr>
        <p:txBody>
          <a:bodyPr wrap="square" lIns="0" tIns="0" rIns="0" bIns="0" rtlCol="0" anchor="t"/>
          <a:lstStyle/>
          <a:p>
            <a:pPr indent="0" marL="0">
              <a:buNone/>
            </a:pPr>
            <a:r>
              <a:rPr lang="en-US" sz="2800" dirty="0">
                <a:solidFill>
                  <a:schemeClr val="bg2"/>
                </a:solidFill>
              </a:rPr>
              <a:t>elisp, vimscript, awk</a:t>
            </a:r>
            <a:endParaRPr lang="en-US" sz="2800" dirty="0"/>
          </a:p>
        </p:txBody>
      </p:sp>
      <p:sp>
        <p:nvSpPr>
          <p:cNvPr id="9" name="Shape 6"/>
          <p:cNvSpPr/>
          <p:nvPr/>
        </p:nvSpPr>
        <p:spPr>
          <a:xfrm>
            <a:off x="3497580" y="2467610"/>
            <a:ext cx="2491740" cy="3658870"/>
          </a:xfrm>
          <a:prstGeom prst="roundRect">
            <a:avLst>
              <a:gd name="adj" fmla="val 4404"/>
            </a:avLst>
          </a:prstGeom>
          <a:solidFill>
            <a:schemeClr val="tx2"/>
          </a:solidFill>
          <a:ln w="12700">
            <a:solidFill>
              <a:srgbClr val="4A1A5E"/>
            </a:solidFill>
            <a:prstDash val="solid"/>
          </a:ln>
        </p:spPr>
      </p:sp>
      <p:sp>
        <p:nvSpPr>
          <p:cNvPr id="10" name="Text 7"/>
          <p:cNvSpPr txBox="1"/>
          <p:nvPr/>
        </p:nvSpPr>
        <p:spPr>
          <a:xfrm>
            <a:off x="3771900" y="2696210"/>
            <a:ext cx="19431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Shells</a:t>
            </a:r>
            <a:endParaRPr lang="en-US" sz="2600" dirty="0"/>
          </a:p>
        </p:txBody>
      </p:sp>
      <p:sp>
        <p:nvSpPr>
          <p:cNvPr id="11" name="Text 8"/>
          <p:cNvSpPr txBox="1"/>
          <p:nvPr/>
        </p:nvSpPr>
        <p:spPr>
          <a:xfrm>
            <a:off x="3771900" y="3290570"/>
            <a:ext cx="1943100" cy="2607310"/>
          </a:xfrm>
          <a:prstGeom prst="rect">
            <a:avLst/>
          </a:prstGeom>
          <a:noFill/>
          <a:ln/>
        </p:spPr>
        <p:txBody>
          <a:bodyPr wrap="square" lIns="0" tIns="0" rIns="0" bIns="0" rtlCol="0" anchor="t"/>
          <a:lstStyle/>
          <a:p>
            <a:pPr indent="0" marL="0">
              <a:buNone/>
            </a:pPr>
            <a:r>
              <a:rPr lang="en-US" sz="2800" dirty="0">
                <a:solidFill>
                  <a:schemeClr val="bg2"/>
                </a:solidFill>
              </a:rPr>
              <a:t>zsh, stryke</a:t>
            </a:r>
            <a:endParaRPr lang="en-US" sz="2800" dirty="0"/>
          </a:p>
        </p:txBody>
      </p:sp>
      <p:sp>
        <p:nvSpPr>
          <p:cNvPr id="12" name="Shape 9"/>
          <p:cNvSpPr/>
          <p:nvPr/>
        </p:nvSpPr>
        <p:spPr>
          <a:xfrm>
            <a:off x="6172200" y="2467610"/>
            <a:ext cx="2491740" cy="3658870"/>
          </a:xfrm>
          <a:prstGeom prst="roundRect">
            <a:avLst>
              <a:gd name="adj" fmla="val 4404"/>
            </a:avLst>
          </a:prstGeom>
          <a:solidFill>
            <a:schemeClr val="tx2"/>
          </a:solidFill>
          <a:ln w="12700">
            <a:solidFill>
              <a:srgbClr val="4A1A5E"/>
            </a:solidFill>
            <a:prstDash val="solid"/>
          </a:ln>
        </p:spPr>
      </p:sp>
      <p:sp>
        <p:nvSpPr>
          <p:cNvPr id="13" name="Text 10"/>
          <p:cNvSpPr txBox="1"/>
          <p:nvPr/>
        </p:nvSpPr>
        <p:spPr>
          <a:xfrm>
            <a:off x="6446520" y="2696210"/>
            <a:ext cx="19431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General</a:t>
            </a:r>
            <a:endParaRPr lang="en-US" sz="2600" dirty="0"/>
          </a:p>
        </p:txBody>
      </p:sp>
      <p:sp>
        <p:nvSpPr>
          <p:cNvPr id="14" name="Text 11"/>
          <p:cNvSpPr txBox="1"/>
          <p:nvPr/>
        </p:nvSpPr>
        <p:spPr>
          <a:xfrm>
            <a:off x="6446520" y="3290570"/>
            <a:ext cx="1943100" cy="2607310"/>
          </a:xfrm>
          <a:prstGeom prst="rect">
            <a:avLst/>
          </a:prstGeom>
          <a:noFill/>
          <a:ln/>
        </p:spPr>
        <p:txBody>
          <a:bodyPr wrap="square" lIns="0" tIns="0" rIns="0" bIns="0" rtlCol="0" anchor="t"/>
          <a:lstStyle/>
          <a:p>
            <a:pPr indent="0" marL="0">
              <a:buNone/>
            </a:pPr>
            <a:r>
              <a:rPr lang="en-US" sz="2800" dirty="0">
                <a:solidFill>
                  <a:schemeClr val="bg2"/>
                </a:solidFill>
              </a:rPr>
              <a:t>ruby, php, python, node</a:t>
            </a:r>
            <a:endParaRPr lang="en-US" sz="2800" dirty="0"/>
          </a:p>
        </p:txBody>
      </p:sp>
      <p:sp>
        <p:nvSpPr>
          <p:cNvPr id="15" name="Shape 12"/>
          <p:cNvSpPr/>
          <p:nvPr/>
        </p:nvSpPr>
        <p:spPr>
          <a:xfrm>
            <a:off x="8846820" y="2467610"/>
            <a:ext cx="2491740" cy="3658870"/>
          </a:xfrm>
          <a:prstGeom prst="roundRect">
            <a:avLst>
              <a:gd name="adj" fmla="val 4404"/>
            </a:avLst>
          </a:prstGeom>
          <a:solidFill>
            <a:schemeClr val="tx2"/>
          </a:solidFill>
          <a:ln w="12700">
            <a:solidFill>
              <a:srgbClr val="4A1A5E"/>
            </a:solidFill>
            <a:prstDash val="solid"/>
          </a:ln>
        </p:spPr>
      </p:sp>
      <p:sp>
        <p:nvSpPr>
          <p:cNvPr id="16" name="Text 13"/>
          <p:cNvSpPr txBox="1"/>
          <p:nvPr/>
        </p:nvSpPr>
        <p:spPr>
          <a:xfrm>
            <a:off x="9121140" y="2696210"/>
            <a:ext cx="19431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More</a:t>
            </a:r>
            <a:endParaRPr lang="en-US" sz="2600" dirty="0"/>
          </a:p>
        </p:txBody>
      </p:sp>
      <p:sp>
        <p:nvSpPr>
          <p:cNvPr id="17" name="Text 14"/>
          <p:cNvSpPr txBox="1"/>
          <p:nvPr/>
        </p:nvSpPr>
        <p:spPr>
          <a:xfrm>
            <a:off x="9121140" y="3290570"/>
            <a:ext cx="1943100" cy="2607310"/>
          </a:xfrm>
          <a:prstGeom prst="rect">
            <a:avLst/>
          </a:prstGeom>
          <a:noFill/>
          <a:ln/>
        </p:spPr>
        <p:txBody>
          <a:bodyPr wrap="square" lIns="0" tIns="0" rIns="0" bIns="0" rtlCol="0" anchor="t"/>
          <a:lstStyle/>
          <a:p>
            <a:pPr indent="0" marL="0">
              <a:buNone/>
            </a:pPr>
            <a:r>
              <a:rPr lang="en-US" sz="2800" dirty="0">
                <a:solidFill>
                  <a:schemeClr val="bg2"/>
                </a:solidFill>
              </a:rPr>
              <a:t>arb, tcl, R on unix</a:t>
            </a:r>
            <a:endParaRPr lang="en-US" sz="28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Pipelines inside the editor</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zmax / xpipe</a:t>
            </a:r>
            <a:endParaRPr lang="en-US" sz="1200" dirty="0"/>
          </a:p>
        </p:txBody>
      </p:sp>
      <p:sp>
        <p:nvSpPr>
          <p:cNvPr id="5" name="Text 2"/>
          <p:cNvSpPr txBox="1"/>
          <p:nvPr/>
        </p:nvSpPr>
        <p:spPr>
          <a:xfrm>
            <a:off x="822960" y="1463040"/>
            <a:ext cx="10515600" cy="775970"/>
          </a:xfrm>
          <a:prstGeom prst="rect">
            <a:avLst/>
          </a:prstGeom>
          <a:noFill/>
          <a:ln/>
        </p:spPr>
        <p:txBody>
          <a:bodyPr wrap="square" lIns="0" tIns="0" rIns="0" bIns="0" rtlCol="0" anchor="t"/>
          <a:lstStyle/>
          <a:p>
            <a:pPr indent="0" marL="0">
              <a:buNone/>
            </a:pPr>
            <a:r>
              <a:rPr lang="en-US" sz="2300" dirty="0">
                <a:solidFill>
                  <a:schemeClr val="bg2"/>
                </a:solidFill>
              </a:rPr>
              <a:t>:xpipe chains languages over a selection with no fork, no execve and no pipe file descriptors. One undo step covers the whole chain.</a:t>
            </a:r>
            <a:endParaRPr lang="en-US" sz="2300" dirty="0"/>
          </a:p>
        </p:txBody>
      </p:sp>
      <p:sp>
        <p:nvSpPr>
          <p:cNvPr id="6" name="Shape 3"/>
          <p:cNvSpPr/>
          <p:nvPr/>
        </p:nvSpPr>
        <p:spPr>
          <a:xfrm>
            <a:off x="822960" y="2467610"/>
            <a:ext cx="10515600" cy="782320"/>
          </a:xfrm>
          <a:prstGeom prst="roundRect">
            <a:avLst>
              <a:gd name="adj" fmla="val 14026"/>
            </a:avLst>
          </a:prstGeom>
          <a:solidFill>
            <a:schemeClr val="tx2"/>
          </a:solidFill>
          <a:ln w="12700">
            <a:solidFill>
              <a:srgbClr val="4A1A5E"/>
            </a:solidFill>
            <a:prstDash val="solid"/>
          </a:ln>
        </p:spPr>
      </p:sp>
      <p:sp>
        <p:nvSpPr>
          <p:cNvPr id="7" name="Text 4"/>
          <p:cNvSpPr txBox="1"/>
          <p:nvPr/>
        </p:nvSpPr>
        <p:spPr>
          <a:xfrm>
            <a:off x="1143000" y="2696210"/>
            <a:ext cx="9875520" cy="325120"/>
          </a:xfrm>
          <a:prstGeom prst="rect">
            <a:avLst/>
          </a:prstGeom>
          <a:noFill/>
          <a:ln/>
        </p:spPr>
        <p:txBody>
          <a:bodyPr wrap="square" lIns="0" tIns="0" rIns="0" bIns="0" rtlCol="0" anchor="t"/>
          <a:lstStyle/>
          <a:p>
            <a:pPr indent="0" marL="0">
              <a:lnSpc>
                <a:spcPct val="125000"/>
              </a:lnSpc>
              <a:buNone/>
            </a:pPr>
            <a:r>
              <a:rPr lang="en-US" sz="1600" dirty="0">
                <a:solidFill>
                  <a:schemeClr val="accent1"/>
                </a:solidFill>
                <a:latin typeface="Courier New" pitchFamily="34" charset="0"/>
                <a:ea typeface="Courier New" pitchFamily="34" charset="-122"/>
                <a:cs typeface="Courier New" pitchFamily="34" charset="-120"/>
              </a:rPr>
              <a:t>:xpipe awk '{print $2}' |&gt; php 'echo strtoupper($stdin);' |&gt; ruby 'stdin.reverse'</a:t>
            </a:r>
            <a:endParaRPr lang="en-US" sz="16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Native plugins and packages</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zmax / plugins</a:t>
            </a:r>
            <a:endParaRPr lang="en-US" sz="1200" dirty="0"/>
          </a:p>
        </p:txBody>
      </p:sp>
      <p:sp>
        <p:nvSpPr>
          <p:cNvPr id="5" name="Text 2"/>
          <p:cNvSpPr txBox="1"/>
          <p:nvPr/>
        </p:nvSpPr>
        <p:spPr>
          <a:xfrm>
            <a:off x="822960" y="1463040"/>
            <a:ext cx="10515600" cy="775970"/>
          </a:xfrm>
          <a:prstGeom prst="rect">
            <a:avLst/>
          </a:prstGeom>
          <a:noFill/>
          <a:ln/>
        </p:spPr>
        <p:txBody>
          <a:bodyPr wrap="square" lIns="0" tIns="0" rIns="0" bIns="0" rtlCol="0" anchor="t"/>
          <a:lstStyle/>
          <a:p>
            <a:pPr indent="0" marL="0">
              <a:buNone/>
            </a:pPr>
            <a:r>
              <a:rPr lang="en-US" sz="2300" dirty="0">
                <a:solidFill>
                  <a:schemeClr val="bg2"/>
                </a:solidFill>
              </a:rPr>
              <a:t>Compiled Rust cdylibs load at runtime over a versioned C ABI. A built-in package manager installs them from a repo into a SHA-256 pinned store.</a:t>
            </a:r>
            <a:endParaRPr lang="en-US" sz="2300" dirty="0"/>
          </a:p>
        </p:txBody>
      </p:sp>
      <p:sp>
        <p:nvSpPr>
          <p:cNvPr id="6" name="Shape 3"/>
          <p:cNvSpPr/>
          <p:nvPr/>
        </p:nvSpPr>
        <p:spPr>
          <a:xfrm>
            <a:off x="822960" y="2467610"/>
            <a:ext cx="2491740" cy="3658870"/>
          </a:xfrm>
          <a:prstGeom prst="roundRect">
            <a:avLst>
              <a:gd name="adj" fmla="val 4404"/>
            </a:avLst>
          </a:prstGeom>
          <a:solidFill>
            <a:schemeClr val="tx2"/>
          </a:solidFill>
          <a:ln w="12700">
            <a:solidFill>
              <a:srgbClr val="4A1A5E"/>
            </a:solidFill>
            <a:prstDash val="solid"/>
          </a:ln>
        </p:spPr>
      </p:sp>
      <p:sp>
        <p:nvSpPr>
          <p:cNvPr id="7" name="Text 4"/>
          <p:cNvSpPr txBox="1"/>
          <p:nvPr/>
        </p:nvSpPr>
        <p:spPr>
          <a:xfrm>
            <a:off x="1097280" y="2696210"/>
            <a:ext cx="19431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Load</a:t>
            </a:r>
            <a:endParaRPr lang="en-US" sz="2600" dirty="0"/>
          </a:p>
        </p:txBody>
      </p:sp>
      <p:sp>
        <p:nvSpPr>
          <p:cNvPr id="8" name="Text 5"/>
          <p:cNvSpPr txBox="1"/>
          <p:nvPr/>
        </p:nvSpPr>
        <p:spPr>
          <a:xfrm>
            <a:off x="1097280" y="3290570"/>
            <a:ext cx="1943100" cy="2607310"/>
          </a:xfrm>
          <a:prstGeom prst="rect">
            <a:avLst/>
          </a:prstGeom>
          <a:noFill/>
          <a:ln/>
        </p:spPr>
        <p:txBody>
          <a:bodyPr wrap="square" lIns="0" tIns="0" rIns="0" bIns="0" rtlCol="0" anchor="t"/>
          <a:lstStyle/>
          <a:p>
            <a:pPr indent="0" marL="0">
              <a:buNone/>
            </a:pPr>
            <a:r>
              <a:rPr lang="en-US" sz="2800" dirty="0">
                <a:solidFill>
                  <a:schemeClr val="bg2"/>
                </a:solidFill>
              </a:rPr>
              <a:t>:zmax-native load &lt;path&gt;</a:t>
            </a:r>
            <a:endParaRPr lang="en-US" sz="2800" dirty="0"/>
          </a:p>
        </p:txBody>
      </p:sp>
      <p:sp>
        <p:nvSpPr>
          <p:cNvPr id="9" name="Shape 6"/>
          <p:cNvSpPr/>
          <p:nvPr/>
        </p:nvSpPr>
        <p:spPr>
          <a:xfrm>
            <a:off x="3497580" y="2467610"/>
            <a:ext cx="2491740" cy="3658870"/>
          </a:xfrm>
          <a:prstGeom prst="roundRect">
            <a:avLst>
              <a:gd name="adj" fmla="val 4404"/>
            </a:avLst>
          </a:prstGeom>
          <a:solidFill>
            <a:schemeClr val="tx2"/>
          </a:solidFill>
          <a:ln w="12700">
            <a:solidFill>
              <a:srgbClr val="4A1A5E"/>
            </a:solidFill>
            <a:prstDash val="solid"/>
          </a:ln>
        </p:spPr>
      </p:sp>
      <p:sp>
        <p:nvSpPr>
          <p:cNvPr id="10" name="Text 7"/>
          <p:cNvSpPr txBox="1"/>
          <p:nvPr/>
        </p:nvSpPr>
        <p:spPr>
          <a:xfrm>
            <a:off x="3771900" y="2696210"/>
            <a:ext cx="19431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Install</a:t>
            </a:r>
            <a:endParaRPr lang="en-US" sz="2600" dirty="0"/>
          </a:p>
        </p:txBody>
      </p:sp>
      <p:sp>
        <p:nvSpPr>
          <p:cNvPr id="11" name="Text 8"/>
          <p:cNvSpPr txBox="1"/>
          <p:nvPr/>
        </p:nvSpPr>
        <p:spPr>
          <a:xfrm>
            <a:off x="3771900" y="3290570"/>
            <a:ext cx="1943100" cy="2607310"/>
          </a:xfrm>
          <a:prstGeom prst="rect">
            <a:avLst/>
          </a:prstGeom>
          <a:noFill/>
          <a:ln/>
        </p:spPr>
        <p:txBody>
          <a:bodyPr wrap="square" lIns="0" tIns="0" rIns="0" bIns="0" rtlCol="0" anchor="t"/>
          <a:lstStyle/>
          <a:p>
            <a:pPr indent="0" marL="0">
              <a:buNone/>
            </a:pPr>
            <a:r>
              <a:rPr lang="en-US" sz="2800" dirty="0">
                <a:solidFill>
                  <a:schemeClr val="bg2"/>
                </a:solidFill>
              </a:rPr>
              <a:t>:zmax-native add owner/repo</a:t>
            </a:r>
            <a:endParaRPr lang="en-US" sz="2800" dirty="0"/>
          </a:p>
        </p:txBody>
      </p:sp>
      <p:sp>
        <p:nvSpPr>
          <p:cNvPr id="12" name="Shape 9"/>
          <p:cNvSpPr/>
          <p:nvPr/>
        </p:nvSpPr>
        <p:spPr>
          <a:xfrm>
            <a:off x="6172200" y="2467610"/>
            <a:ext cx="2491740" cy="3658870"/>
          </a:xfrm>
          <a:prstGeom prst="roundRect">
            <a:avLst>
              <a:gd name="adj" fmla="val 4404"/>
            </a:avLst>
          </a:prstGeom>
          <a:solidFill>
            <a:schemeClr val="tx2"/>
          </a:solidFill>
          <a:ln w="12700">
            <a:solidFill>
              <a:srgbClr val="4A1A5E"/>
            </a:solidFill>
            <a:prstDash val="solid"/>
          </a:ln>
        </p:spPr>
      </p:sp>
      <p:sp>
        <p:nvSpPr>
          <p:cNvPr id="13" name="Text 10"/>
          <p:cNvSpPr txBox="1"/>
          <p:nvPr/>
        </p:nvSpPr>
        <p:spPr>
          <a:xfrm>
            <a:off x="6446520" y="2696210"/>
            <a:ext cx="19431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Store</a:t>
            </a:r>
            <a:endParaRPr lang="en-US" sz="2600" dirty="0"/>
          </a:p>
        </p:txBody>
      </p:sp>
      <p:sp>
        <p:nvSpPr>
          <p:cNvPr id="14" name="Text 11"/>
          <p:cNvSpPr txBox="1"/>
          <p:nvPr/>
        </p:nvSpPr>
        <p:spPr>
          <a:xfrm>
            <a:off x="6446520" y="3290570"/>
            <a:ext cx="1943100" cy="2607310"/>
          </a:xfrm>
          <a:prstGeom prst="rect">
            <a:avLst/>
          </a:prstGeom>
          <a:noFill/>
          <a:ln/>
        </p:spPr>
        <p:txBody>
          <a:bodyPr wrap="square" lIns="0" tIns="0" rIns="0" bIns="0" rtlCol="0" anchor="t"/>
          <a:lstStyle/>
          <a:p>
            <a:pPr indent="0" marL="0">
              <a:buNone/>
            </a:pPr>
            <a:r>
              <a:rPr lang="en-US" sz="2800" dirty="0">
                <a:solidFill>
                  <a:schemeClr val="bg2"/>
                </a:solidFill>
              </a:rPr>
              <a:t>~/.zmax/pkg, content-addressed</a:t>
            </a:r>
            <a:endParaRPr lang="en-US" sz="2800" dirty="0"/>
          </a:p>
        </p:txBody>
      </p:sp>
      <p:sp>
        <p:nvSpPr>
          <p:cNvPr id="15" name="Shape 12"/>
          <p:cNvSpPr/>
          <p:nvPr/>
        </p:nvSpPr>
        <p:spPr>
          <a:xfrm>
            <a:off x="8846820" y="2467610"/>
            <a:ext cx="2491740" cy="3658870"/>
          </a:xfrm>
          <a:prstGeom prst="roundRect">
            <a:avLst>
              <a:gd name="adj" fmla="val 4404"/>
            </a:avLst>
          </a:prstGeom>
          <a:solidFill>
            <a:schemeClr val="tx2"/>
          </a:solidFill>
          <a:ln w="12700">
            <a:solidFill>
              <a:srgbClr val="4A1A5E"/>
            </a:solidFill>
            <a:prstDash val="solid"/>
          </a:ln>
        </p:spPr>
      </p:sp>
      <p:sp>
        <p:nvSpPr>
          <p:cNvPr id="16" name="Text 13"/>
          <p:cNvSpPr txBox="1"/>
          <p:nvPr/>
        </p:nvSpPr>
        <p:spPr>
          <a:xfrm>
            <a:off x="9121140" y="2696210"/>
            <a:ext cx="19431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Sync</a:t>
            </a:r>
            <a:endParaRPr lang="en-US" sz="2600" dirty="0"/>
          </a:p>
        </p:txBody>
      </p:sp>
      <p:sp>
        <p:nvSpPr>
          <p:cNvPr id="17" name="Text 14"/>
          <p:cNvSpPr txBox="1"/>
          <p:nvPr/>
        </p:nvSpPr>
        <p:spPr>
          <a:xfrm>
            <a:off x="9121140" y="3290570"/>
            <a:ext cx="1943100" cy="2607310"/>
          </a:xfrm>
          <a:prstGeom prst="rect">
            <a:avLst/>
          </a:prstGeom>
          <a:noFill/>
          <a:ln/>
        </p:spPr>
        <p:txBody>
          <a:bodyPr wrap="square" lIns="0" tIns="0" rIns="0" bIns="0" rtlCol="0" anchor="t"/>
          <a:lstStyle/>
          <a:p>
            <a:pPr indent="0" marL="0">
              <a:buNone/>
            </a:pPr>
            <a:r>
              <a:rPr lang="en-US" sz="2800" dirty="0">
                <a:solidFill>
                  <a:schemeClr val="bg2"/>
                </a:solidFill>
              </a:rPr>
              <a:t>:zmax-native sync</a:t>
            </a:r>
            <a:endParaRPr lang="en-US" sz="28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Coverage is measured</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zmax / report</a:t>
            </a:r>
            <a:endParaRPr lang="en-US" sz="1200" dirty="0"/>
          </a:p>
        </p:txBody>
      </p:sp>
      <p:sp>
        <p:nvSpPr>
          <p:cNvPr id="5" name="Text 2"/>
          <p:cNvSpPr txBox="1"/>
          <p:nvPr/>
        </p:nvSpPr>
        <p:spPr>
          <a:xfrm>
            <a:off x="822960" y="1463040"/>
            <a:ext cx="10515600" cy="998220"/>
          </a:xfrm>
          <a:prstGeom prst="rect">
            <a:avLst/>
          </a:prstGeom>
          <a:noFill/>
          <a:ln/>
        </p:spPr>
        <p:txBody>
          <a:bodyPr wrap="square" lIns="0" tIns="0" rIns="0" bIns="0" rtlCol="0" anchor="t"/>
          <a:lstStyle/>
          <a:p>
            <a:pPr indent="0" marL="0">
              <a:buNone/>
            </a:pPr>
            <a:r>
              <a:rPr lang="en-US" sz="2000" dirty="0">
                <a:solidFill>
                  <a:schemeClr val="bg2"/>
                </a:solidFill>
              </a:rPr>
              <a:t>The port report measures zmax against the cited feature inventories of Vim, Neovim, Emacs, Spacemacs, kakoune, vis, sam, ed, nvi, vile, mg, nano, micro, mcedit, ne, dte, distributions, fzf.vim and JetBrains.</a:t>
            </a:r>
            <a:endParaRPr lang="en-US" sz="2000" dirty="0"/>
          </a:p>
        </p:txBody>
      </p:sp>
      <p:sp>
        <p:nvSpPr>
          <p:cNvPr id="6" name="Shape 3"/>
          <p:cNvSpPr/>
          <p:nvPr/>
        </p:nvSpPr>
        <p:spPr>
          <a:xfrm>
            <a:off x="822960" y="2689860"/>
            <a:ext cx="2491740" cy="3436620"/>
          </a:xfrm>
          <a:prstGeom prst="roundRect">
            <a:avLst>
              <a:gd name="adj" fmla="val 4404"/>
            </a:avLst>
          </a:prstGeom>
          <a:solidFill>
            <a:schemeClr val="tx2"/>
          </a:solidFill>
          <a:ln w="12700">
            <a:solidFill>
              <a:srgbClr val="4A1A5E"/>
            </a:solidFill>
            <a:prstDash val="solid"/>
          </a:ln>
        </p:spPr>
      </p:sp>
      <p:sp>
        <p:nvSpPr>
          <p:cNvPr id="7" name="Text 4"/>
          <p:cNvSpPr txBox="1"/>
          <p:nvPr/>
        </p:nvSpPr>
        <p:spPr>
          <a:xfrm>
            <a:off x="1097280" y="2918460"/>
            <a:ext cx="1943100" cy="457200"/>
          </a:xfrm>
          <a:prstGeom prst="rect">
            <a:avLst/>
          </a:prstGeom>
          <a:noFill/>
          <a:ln/>
        </p:spPr>
        <p:txBody>
          <a:bodyPr wrap="square" lIns="0" tIns="0" rIns="0" bIns="0" rtlCol="0" anchor="t"/>
          <a:lstStyle/>
          <a:p>
            <a:pPr indent="0" marL="0">
              <a:buNone/>
            </a:pPr>
            <a:r>
              <a:rPr lang="en-US" sz="1700" b="1" dirty="0">
                <a:solidFill>
                  <a:schemeClr val="accent1"/>
                </a:solidFill>
                <a:latin typeface="Cambria" pitchFamily="34" charset="0"/>
                <a:ea typeface="Cambria" pitchFamily="34" charset="-122"/>
                <a:cs typeface="Cambria" pitchFamily="34" charset="-120"/>
              </a:rPr>
              <a:t>Parsed</a:t>
            </a:r>
            <a:endParaRPr lang="en-US" sz="1700" dirty="0"/>
          </a:p>
        </p:txBody>
      </p:sp>
      <p:sp>
        <p:nvSpPr>
          <p:cNvPr id="8" name="Text 5"/>
          <p:cNvSpPr txBox="1"/>
          <p:nvPr/>
        </p:nvSpPr>
        <p:spPr>
          <a:xfrm>
            <a:off x="1097280" y="3512820"/>
            <a:ext cx="1943100" cy="2385060"/>
          </a:xfrm>
          <a:prstGeom prst="rect">
            <a:avLst/>
          </a:prstGeom>
          <a:noFill/>
          <a:ln/>
        </p:spPr>
        <p:txBody>
          <a:bodyPr wrap="square" lIns="0" tIns="0" rIns="0" bIns="0" rtlCol="0" anchor="t"/>
          <a:lstStyle/>
          <a:p>
            <a:pPr indent="0" marL="0">
              <a:buNone/>
            </a:pPr>
            <a:r>
              <a:rPr lang="en-US" sz="2800" dirty="0">
                <a:solidFill>
                  <a:schemeClr val="bg2"/>
                </a:solidFill>
              </a:rPr>
              <a:t>From each tool's own primary source</a:t>
            </a:r>
            <a:endParaRPr lang="en-US" sz="2800" dirty="0"/>
          </a:p>
        </p:txBody>
      </p:sp>
      <p:sp>
        <p:nvSpPr>
          <p:cNvPr id="9" name="Shape 6"/>
          <p:cNvSpPr/>
          <p:nvPr/>
        </p:nvSpPr>
        <p:spPr>
          <a:xfrm>
            <a:off x="3497580" y="2689860"/>
            <a:ext cx="2491740" cy="3436620"/>
          </a:xfrm>
          <a:prstGeom prst="roundRect">
            <a:avLst>
              <a:gd name="adj" fmla="val 4404"/>
            </a:avLst>
          </a:prstGeom>
          <a:solidFill>
            <a:schemeClr val="tx2"/>
          </a:solidFill>
          <a:ln w="12700">
            <a:solidFill>
              <a:srgbClr val="4A1A5E"/>
            </a:solidFill>
            <a:prstDash val="solid"/>
          </a:ln>
        </p:spPr>
      </p:sp>
      <p:sp>
        <p:nvSpPr>
          <p:cNvPr id="10" name="Text 7"/>
          <p:cNvSpPr txBox="1"/>
          <p:nvPr/>
        </p:nvSpPr>
        <p:spPr>
          <a:xfrm>
            <a:off x="3771900" y="2918460"/>
            <a:ext cx="1943100" cy="457200"/>
          </a:xfrm>
          <a:prstGeom prst="rect">
            <a:avLst/>
          </a:prstGeom>
          <a:noFill/>
          <a:ln/>
        </p:spPr>
        <p:txBody>
          <a:bodyPr wrap="square" lIns="0" tIns="0" rIns="0" bIns="0" rtlCol="0" anchor="t"/>
          <a:lstStyle/>
          <a:p>
            <a:pPr indent="0" marL="0">
              <a:buNone/>
            </a:pPr>
            <a:r>
              <a:rPr lang="en-US" sz="1700" b="1" dirty="0">
                <a:solidFill>
                  <a:schemeClr val="accent1"/>
                </a:solidFill>
                <a:latin typeface="Cambria" pitchFamily="34" charset="0"/>
                <a:ea typeface="Cambria" pitchFamily="34" charset="-122"/>
                <a:cs typeface="Cambria" pitchFamily="34" charset="-120"/>
              </a:rPr>
              <a:t>Re-derived</a:t>
            </a:r>
            <a:endParaRPr lang="en-US" sz="1700" dirty="0"/>
          </a:p>
        </p:txBody>
      </p:sp>
      <p:sp>
        <p:nvSpPr>
          <p:cNvPr id="11" name="Text 8"/>
          <p:cNvSpPr txBox="1"/>
          <p:nvPr/>
        </p:nvSpPr>
        <p:spPr>
          <a:xfrm>
            <a:off x="3771900" y="3512820"/>
            <a:ext cx="1943100" cy="2385060"/>
          </a:xfrm>
          <a:prstGeom prst="rect">
            <a:avLst/>
          </a:prstGeom>
          <a:noFill/>
          <a:ln/>
        </p:spPr>
        <p:txBody>
          <a:bodyPr wrap="square" lIns="0" tIns="0" rIns="0" bIns="0" rtlCol="0" anchor="t"/>
          <a:lstStyle/>
          <a:p>
            <a:pPr indent="0" marL="0">
              <a:buNone/>
            </a:pPr>
            <a:r>
              <a:rPr lang="en-US" sz="2800" dirty="0">
                <a:solidFill>
                  <a:schemeClr val="bg2"/>
                </a:solidFill>
              </a:rPr>
              <a:t>Numerator recomputed every run</a:t>
            </a:r>
            <a:endParaRPr lang="en-US" sz="2800" dirty="0"/>
          </a:p>
        </p:txBody>
      </p:sp>
      <p:sp>
        <p:nvSpPr>
          <p:cNvPr id="12" name="Shape 9"/>
          <p:cNvSpPr/>
          <p:nvPr/>
        </p:nvSpPr>
        <p:spPr>
          <a:xfrm>
            <a:off x="6172200" y="2689860"/>
            <a:ext cx="2491740" cy="3436620"/>
          </a:xfrm>
          <a:prstGeom prst="roundRect">
            <a:avLst>
              <a:gd name="adj" fmla="val 4404"/>
            </a:avLst>
          </a:prstGeom>
          <a:solidFill>
            <a:schemeClr val="tx2"/>
          </a:solidFill>
          <a:ln w="12700">
            <a:solidFill>
              <a:srgbClr val="4A1A5E"/>
            </a:solidFill>
            <a:prstDash val="solid"/>
          </a:ln>
        </p:spPr>
      </p:sp>
      <p:sp>
        <p:nvSpPr>
          <p:cNvPr id="13" name="Text 10"/>
          <p:cNvSpPr txBox="1"/>
          <p:nvPr/>
        </p:nvSpPr>
        <p:spPr>
          <a:xfrm>
            <a:off x="6446520" y="2918460"/>
            <a:ext cx="1943100" cy="457200"/>
          </a:xfrm>
          <a:prstGeom prst="rect">
            <a:avLst/>
          </a:prstGeom>
          <a:noFill/>
          <a:ln/>
        </p:spPr>
        <p:txBody>
          <a:bodyPr wrap="square" lIns="0" tIns="0" rIns="0" bIns="0" rtlCol="0" anchor="t"/>
          <a:lstStyle/>
          <a:p>
            <a:pPr indent="0" marL="0">
              <a:buNone/>
            </a:pPr>
            <a:r>
              <a:rPr lang="en-US" sz="1700" b="1" dirty="0">
                <a:solidFill>
                  <a:schemeClr val="accent1"/>
                </a:solidFill>
                <a:latin typeface="Cambria" pitchFamily="34" charset="0"/>
                <a:ea typeface="Cambria" pitchFamily="34" charset="-122"/>
                <a:cs typeface="Cambria" pitchFamily="34" charset="-120"/>
              </a:rPr>
              <a:t>Honest</a:t>
            </a:r>
            <a:endParaRPr lang="en-US" sz="1700" dirty="0"/>
          </a:p>
        </p:txBody>
      </p:sp>
      <p:sp>
        <p:nvSpPr>
          <p:cNvPr id="14" name="Text 11"/>
          <p:cNvSpPr txBox="1"/>
          <p:nvPr/>
        </p:nvSpPr>
        <p:spPr>
          <a:xfrm>
            <a:off x="6446520" y="3512820"/>
            <a:ext cx="1943100" cy="2385060"/>
          </a:xfrm>
          <a:prstGeom prst="rect">
            <a:avLst/>
          </a:prstGeom>
          <a:noFill/>
          <a:ln/>
        </p:spPr>
        <p:txBody>
          <a:bodyPr wrap="square" lIns="0" tIns="0" rIns="0" bIns="0" rtlCol="0" anchor="t"/>
          <a:lstStyle/>
          <a:p>
            <a:pPr indent="0" marL="0">
              <a:buNone/>
            </a:pPr>
            <a:r>
              <a:rPr lang="en-US" sz="2800" dirty="0">
                <a:solidFill>
                  <a:schemeClr val="bg2"/>
                </a:solidFill>
              </a:rPr>
              <a:t>A mapping to nothing is flagged broken</a:t>
            </a:r>
            <a:endParaRPr lang="en-US" sz="2800" dirty="0"/>
          </a:p>
        </p:txBody>
      </p:sp>
      <p:sp>
        <p:nvSpPr>
          <p:cNvPr id="15" name="Shape 12"/>
          <p:cNvSpPr/>
          <p:nvPr/>
        </p:nvSpPr>
        <p:spPr>
          <a:xfrm>
            <a:off x="8846820" y="2689860"/>
            <a:ext cx="2491740" cy="3436620"/>
          </a:xfrm>
          <a:prstGeom prst="roundRect">
            <a:avLst>
              <a:gd name="adj" fmla="val 4404"/>
            </a:avLst>
          </a:prstGeom>
          <a:solidFill>
            <a:schemeClr val="tx2"/>
          </a:solidFill>
          <a:ln w="12700">
            <a:solidFill>
              <a:srgbClr val="4A1A5E"/>
            </a:solidFill>
            <a:prstDash val="solid"/>
          </a:ln>
        </p:spPr>
      </p:sp>
      <p:sp>
        <p:nvSpPr>
          <p:cNvPr id="16" name="Text 13"/>
          <p:cNvSpPr txBox="1"/>
          <p:nvPr/>
        </p:nvSpPr>
        <p:spPr>
          <a:xfrm>
            <a:off x="9121140" y="2918460"/>
            <a:ext cx="1943100" cy="457200"/>
          </a:xfrm>
          <a:prstGeom prst="rect">
            <a:avLst/>
          </a:prstGeom>
          <a:noFill/>
          <a:ln/>
        </p:spPr>
        <p:txBody>
          <a:bodyPr wrap="square" lIns="0" tIns="0" rIns="0" bIns="0" rtlCol="0" anchor="t"/>
          <a:lstStyle/>
          <a:p>
            <a:pPr indent="0" marL="0">
              <a:buNone/>
            </a:pPr>
            <a:r>
              <a:rPr lang="en-US" sz="1700" b="1" dirty="0">
                <a:solidFill>
                  <a:schemeClr val="accent1"/>
                </a:solidFill>
                <a:latin typeface="Cambria" pitchFamily="34" charset="0"/>
                <a:ea typeface="Cambria" pitchFamily="34" charset="-122"/>
                <a:cs typeface="Cambria" pitchFamily="34" charset="-120"/>
              </a:rPr>
              <a:t>Not hardcoded</a:t>
            </a:r>
            <a:endParaRPr lang="en-US" sz="1700" dirty="0"/>
          </a:p>
        </p:txBody>
      </p:sp>
      <p:sp>
        <p:nvSpPr>
          <p:cNvPr id="17" name="Text 14"/>
          <p:cNvSpPr txBox="1"/>
          <p:nvPr/>
        </p:nvSpPr>
        <p:spPr>
          <a:xfrm>
            <a:off x="9121140" y="3512820"/>
            <a:ext cx="1943100" cy="2385060"/>
          </a:xfrm>
          <a:prstGeom prst="rect">
            <a:avLst/>
          </a:prstGeom>
          <a:noFill/>
          <a:ln/>
        </p:spPr>
        <p:txBody>
          <a:bodyPr wrap="square" lIns="0" tIns="0" rIns="0" bIns="0" rtlCol="0" anchor="t"/>
          <a:lstStyle/>
          <a:p>
            <a:pPr indent="0" marL="0">
              <a:buNone/>
            </a:pPr>
            <a:r>
              <a:rPr lang="en-US" sz="2800" dirty="0">
                <a:solidFill>
                  <a:schemeClr val="bg2"/>
                </a:solidFill>
              </a:rPr>
              <a:t>Numbers live in the generated report</a:t>
            </a:r>
            <a:endParaRPr lang="en-US" sz="28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What achieved does not mean</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zmax / vision</a:t>
            </a:r>
            <a:endParaRPr lang="en-US" sz="1200" dirty="0"/>
          </a:p>
        </p:txBody>
      </p:sp>
      <p:sp>
        <p:nvSpPr>
          <p:cNvPr id="5" name="Text 2"/>
          <p:cNvSpPr txBox="1"/>
          <p:nvPr/>
        </p:nvSpPr>
        <p:spPr>
          <a:xfrm>
            <a:off x="822960" y="1463040"/>
            <a:ext cx="10515600" cy="426720"/>
          </a:xfrm>
          <a:prstGeom prst="rect">
            <a:avLst/>
          </a:prstGeom>
          <a:noFill/>
          <a:ln/>
        </p:spPr>
        <p:txBody>
          <a:bodyPr wrap="square" lIns="0" tIns="0" rIns="0" bIns="0" rtlCol="0" anchor="t"/>
          <a:lstStyle/>
          <a:p>
            <a:pPr indent="0" marL="0">
              <a:buNone/>
            </a:pPr>
            <a:r>
              <a:rPr lang="en-US" sz="2400" dirty="0">
                <a:solidFill>
                  <a:schemeClr val="bg2"/>
                </a:solidFill>
              </a:rPr>
              <a:t>The vision document refuses to claim parity it has not proven.</a:t>
            </a:r>
            <a:endParaRPr lang="en-US" sz="2400" dirty="0"/>
          </a:p>
        </p:txBody>
      </p:sp>
      <p:sp>
        <p:nvSpPr>
          <p:cNvPr id="6" name="Shape 3"/>
          <p:cNvSpPr/>
          <p:nvPr/>
        </p:nvSpPr>
        <p:spPr>
          <a:xfrm>
            <a:off x="822960" y="2118360"/>
            <a:ext cx="2491740" cy="4008120"/>
          </a:xfrm>
          <a:prstGeom prst="roundRect">
            <a:avLst>
              <a:gd name="adj" fmla="val 4404"/>
            </a:avLst>
          </a:prstGeom>
          <a:solidFill>
            <a:schemeClr val="tx2"/>
          </a:solidFill>
          <a:ln w="12700">
            <a:solidFill>
              <a:srgbClr val="4A1A5E"/>
            </a:solidFill>
            <a:prstDash val="solid"/>
          </a:ln>
        </p:spPr>
      </p:sp>
      <p:sp>
        <p:nvSpPr>
          <p:cNvPr id="7" name="Text 4"/>
          <p:cNvSpPr txBox="1"/>
          <p:nvPr/>
        </p:nvSpPr>
        <p:spPr>
          <a:xfrm>
            <a:off x="1097280" y="2346960"/>
            <a:ext cx="1943100" cy="457200"/>
          </a:xfrm>
          <a:prstGeom prst="rect">
            <a:avLst/>
          </a:prstGeom>
          <a:noFill/>
          <a:ln/>
        </p:spPr>
        <p:txBody>
          <a:bodyPr wrap="square" lIns="0" tIns="0" rIns="0" bIns="0" rtlCol="0" anchor="t"/>
          <a:lstStyle/>
          <a:p>
            <a:pPr indent="0" marL="0">
              <a:buNone/>
            </a:pPr>
            <a:r>
              <a:rPr lang="en-US" sz="1400" b="1" dirty="0">
                <a:solidFill>
                  <a:schemeClr val="accent1"/>
                </a:solidFill>
                <a:latin typeface="Cambria" pitchFamily="34" charset="0"/>
                <a:ea typeface="Cambria" pitchFamily="34" charset="-122"/>
                <a:cs typeface="Cambria" pitchFamily="34" charset="-120"/>
              </a:rPr>
              <a:t>Not 100%</a:t>
            </a:r>
            <a:endParaRPr lang="en-US" sz="1400" dirty="0"/>
          </a:p>
        </p:txBody>
      </p:sp>
      <p:sp>
        <p:nvSpPr>
          <p:cNvPr id="8" name="Text 5"/>
          <p:cNvSpPr txBox="1"/>
          <p:nvPr/>
        </p:nvSpPr>
        <p:spPr>
          <a:xfrm>
            <a:off x="1097280" y="2941320"/>
            <a:ext cx="1943100" cy="2956560"/>
          </a:xfrm>
          <a:prstGeom prst="rect">
            <a:avLst/>
          </a:prstGeom>
          <a:noFill/>
          <a:ln/>
        </p:spPr>
        <p:txBody>
          <a:bodyPr wrap="square" lIns="0" tIns="0" rIns="0" bIns="0" rtlCol="0" anchor="t"/>
          <a:lstStyle/>
          <a:p>
            <a:pPr indent="0" marL="0">
              <a:buNone/>
            </a:pPr>
            <a:r>
              <a:rPr lang="en-US" sz="2800" dirty="0">
                <a:solidFill>
                  <a:schemeClr val="bg2"/>
                </a:solidFill>
              </a:rPr>
              <a:t>Emacs tail such as Dired and Gnus is not chased</a:t>
            </a:r>
            <a:endParaRPr lang="en-US" sz="2800" dirty="0"/>
          </a:p>
        </p:txBody>
      </p:sp>
      <p:sp>
        <p:nvSpPr>
          <p:cNvPr id="9" name="Shape 6"/>
          <p:cNvSpPr/>
          <p:nvPr/>
        </p:nvSpPr>
        <p:spPr>
          <a:xfrm>
            <a:off x="3497580" y="2118360"/>
            <a:ext cx="2491740" cy="4008120"/>
          </a:xfrm>
          <a:prstGeom prst="roundRect">
            <a:avLst>
              <a:gd name="adj" fmla="val 4404"/>
            </a:avLst>
          </a:prstGeom>
          <a:solidFill>
            <a:schemeClr val="tx2"/>
          </a:solidFill>
          <a:ln w="12700">
            <a:solidFill>
              <a:srgbClr val="4A1A5E"/>
            </a:solidFill>
            <a:prstDash val="solid"/>
          </a:ln>
        </p:spPr>
      </p:sp>
      <p:sp>
        <p:nvSpPr>
          <p:cNvPr id="10" name="Text 7"/>
          <p:cNvSpPr txBox="1"/>
          <p:nvPr/>
        </p:nvSpPr>
        <p:spPr>
          <a:xfrm>
            <a:off x="3771900" y="2346960"/>
            <a:ext cx="1943100" cy="457200"/>
          </a:xfrm>
          <a:prstGeom prst="rect">
            <a:avLst/>
          </a:prstGeom>
          <a:noFill/>
          <a:ln/>
        </p:spPr>
        <p:txBody>
          <a:bodyPr wrap="square" lIns="0" tIns="0" rIns="0" bIns="0" rtlCol="0" anchor="t"/>
          <a:lstStyle/>
          <a:p>
            <a:pPr indent="0" marL="0">
              <a:buNone/>
            </a:pPr>
            <a:r>
              <a:rPr lang="en-US" sz="1400" b="1" dirty="0">
                <a:solidFill>
                  <a:schemeClr val="accent1"/>
                </a:solidFill>
                <a:latin typeface="Cambria" pitchFamily="34" charset="0"/>
                <a:ea typeface="Cambria" pitchFamily="34" charset="-122"/>
                <a:cs typeface="Cambria" pitchFamily="34" charset="-120"/>
              </a:rPr>
              <a:t>Weak area</a:t>
            </a:r>
            <a:endParaRPr lang="en-US" sz="1400" dirty="0"/>
          </a:p>
        </p:txBody>
      </p:sp>
      <p:sp>
        <p:nvSpPr>
          <p:cNvPr id="11" name="Text 8"/>
          <p:cNvSpPr txBox="1"/>
          <p:nvPr/>
        </p:nvSpPr>
        <p:spPr>
          <a:xfrm>
            <a:off x="3771900" y="2941320"/>
            <a:ext cx="1943100" cy="2956560"/>
          </a:xfrm>
          <a:prstGeom prst="rect">
            <a:avLst/>
          </a:prstGeom>
          <a:noFill/>
          <a:ln/>
        </p:spPr>
        <p:txBody>
          <a:bodyPr wrap="square" lIns="0" tIns="0" rIns="0" bIns="0" rtlCol="0" anchor="t"/>
          <a:lstStyle/>
          <a:p>
            <a:pPr indent="0" marL="0">
              <a:buNone/>
            </a:pPr>
            <a:r>
              <a:rPr lang="en-US" sz="2800" dirty="0">
                <a:solidFill>
                  <a:schemeClr val="bg2"/>
                </a:solidFill>
              </a:rPr>
              <a:t>Refactoring is largely LSP-delegated and partial</a:t>
            </a:r>
            <a:endParaRPr lang="en-US" sz="2800" dirty="0"/>
          </a:p>
        </p:txBody>
      </p:sp>
      <p:sp>
        <p:nvSpPr>
          <p:cNvPr id="12" name="Shape 9"/>
          <p:cNvSpPr/>
          <p:nvPr/>
        </p:nvSpPr>
        <p:spPr>
          <a:xfrm>
            <a:off x="6172200" y="2118360"/>
            <a:ext cx="2491740" cy="4008120"/>
          </a:xfrm>
          <a:prstGeom prst="roundRect">
            <a:avLst>
              <a:gd name="adj" fmla="val 4404"/>
            </a:avLst>
          </a:prstGeom>
          <a:solidFill>
            <a:schemeClr val="tx2"/>
          </a:solidFill>
          <a:ln w="12700">
            <a:solidFill>
              <a:srgbClr val="4A1A5E"/>
            </a:solidFill>
            <a:prstDash val="solid"/>
          </a:ln>
        </p:spPr>
      </p:sp>
      <p:sp>
        <p:nvSpPr>
          <p:cNvPr id="13" name="Text 10"/>
          <p:cNvSpPr txBox="1"/>
          <p:nvPr/>
        </p:nvSpPr>
        <p:spPr>
          <a:xfrm>
            <a:off x="6446520" y="2346960"/>
            <a:ext cx="1943100" cy="457200"/>
          </a:xfrm>
          <a:prstGeom prst="rect">
            <a:avLst/>
          </a:prstGeom>
          <a:noFill/>
          <a:ln/>
        </p:spPr>
        <p:txBody>
          <a:bodyPr wrap="square" lIns="0" tIns="0" rIns="0" bIns="0" rtlCol="0" anchor="t"/>
          <a:lstStyle/>
          <a:p>
            <a:pPr indent="0" marL="0">
              <a:buNone/>
            </a:pPr>
            <a:r>
              <a:rPr lang="en-US" sz="1400" b="1" dirty="0">
                <a:solidFill>
                  <a:schemeClr val="accent1"/>
                </a:solidFill>
                <a:latin typeface="Cambria" pitchFamily="34" charset="0"/>
                <a:ea typeface="Cambria" pitchFamily="34" charset="-122"/>
                <a:cs typeface="Cambria" pitchFamily="34" charset="-120"/>
              </a:rPr>
              <a:t>Standard</a:t>
            </a:r>
            <a:endParaRPr lang="en-US" sz="1400" dirty="0"/>
          </a:p>
        </p:txBody>
      </p:sp>
      <p:sp>
        <p:nvSpPr>
          <p:cNvPr id="14" name="Text 11"/>
          <p:cNvSpPr txBox="1"/>
          <p:nvPr/>
        </p:nvSpPr>
        <p:spPr>
          <a:xfrm>
            <a:off x="6446520" y="2941320"/>
            <a:ext cx="1943100" cy="2956560"/>
          </a:xfrm>
          <a:prstGeom prst="rect">
            <a:avLst/>
          </a:prstGeom>
          <a:noFill/>
          <a:ln/>
        </p:spPr>
        <p:txBody>
          <a:bodyPr wrap="square" lIns="0" tIns="0" rIns="0" bIns="0" rtlCol="0" anchor="t"/>
          <a:lstStyle/>
          <a:p>
            <a:pPr indent="0" marL="0">
              <a:buNone/>
            </a:pPr>
            <a:r>
              <a:rPr lang="en-US" sz="2800" dirty="0">
                <a:solidFill>
                  <a:schemeClr val="bg2"/>
                </a:solidFill>
              </a:rPr>
              <a:t>Zero config is the bar; regressions count as bugs</a:t>
            </a:r>
            <a:endParaRPr lang="en-US" sz="2800" dirty="0"/>
          </a:p>
        </p:txBody>
      </p:sp>
      <p:sp>
        <p:nvSpPr>
          <p:cNvPr id="15" name="Shape 12"/>
          <p:cNvSpPr/>
          <p:nvPr/>
        </p:nvSpPr>
        <p:spPr>
          <a:xfrm>
            <a:off x="8846820" y="2118360"/>
            <a:ext cx="2491740" cy="4008120"/>
          </a:xfrm>
          <a:prstGeom prst="roundRect">
            <a:avLst>
              <a:gd name="adj" fmla="val 4404"/>
            </a:avLst>
          </a:prstGeom>
          <a:solidFill>
            <a:schemeClr val="tx2"/>
          </a:solidFill>
          <a:ln w="12700">
            <a:solidFill>
              <a:srgbClr val="4A1A5E"/>
            </a:solidFill>
            <a:prstDash val="solid"/>
          </a:ln>
        </p:spPr>
      </p:sp>
      <p:sp>
        <p:nvSpPr>
          <p:cNvPr id="16" name="Text 13"/>
          <p:cNvSpPr txBox="1"/>
          <p:nvPr/>
        </p:nvSpPr>
        <p:spPr>
          <a:xfrm>
            <a:off x="9121140" y="2346960"/>
            <a:ext cx="1943100" cy="457200"/>
          </a:xfrm>
          <a:prstGeom prst="rect">
            <a:avLst/>
          </a:prstGeom>
          <a:noFill/>
          <a:ln/>
        </p:spPr>
        <p:txBody>
          <a:bodyPr wrap="square" lIns="0" tIns="0" rIns="0" bIns="0" rtlCol="0" anchor="t"/>
          <a:lstStyle/>
          <a:p>
            <a:pPr indent="0" marL="0">
              <a:buNone/>
            </a:pPr>
            <a:r>
              <a:rPr lang="en-US" sz="1400" b="1" dirty="0">
                <a:solidFill>
                  <a:schemeClr val="accent1"/>
                </a:solidFill>
                <a:latin typeface="Cambria" pitchFamily="34" charset="0"/>
                <a:ea typeface="Cambria" pitchFamily="34" charset="-122"/>
                <a:cs typeface="Cambria" pitchFamily="34" charset="-120"/>
              </a:rPr>
              <a:t>Daily workflows</a:t>
            </a:r>
            <a:endParaRPr lang="en-US" sz="1400" dirty="0"/>
          </a:p>
        </p:txBody>
      </p:sp>
      <p:sp>
        <p:nvSpPr>
          <p:cNvPr id="17" name="Text 14"/>
          <p:cNvSpPr txBox="1"/>
          <p:nvPr/>
        </p:nvSpPr>
        <p:spPr>
          <a:xfrm>
            <a:off x="9121140" y="2941320"/>
            <a:ext cx="1943100" cy="2956560"/>
          </a:xfrm>
          <a:prstGeom prst="rect">
            <a:avLst/>
          </a:prstGeom>
          <a:noFill/>
          <a:ln/>
        </p:spPr>
        <p:txBody>
          <a:bodyPr wrap="square" lIns="0" tIns="0" rIns="0" bIns="0" rtlCol="0" anchor="t"/>
          <a:lstStyle/>
          <a:p>
            <a:pPr indent="0" marL="0">
              <a:buNone/>
            </a:pPr>
            <a:r>
              <a:rPr lang="en-US" sz="2800" dirty="0">
                <a:solidFill>
                  <a:schemeClr val="bg2"/>
                </a:solidFill>
              </a:rPr>
              <a:t>Spacemacs and JetBrains are the targets</a:t>
            </a:r>
            <a:endParaRPr lang="en-US" sz="28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Editing model</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zmax / editing</a:t>
            </a:r>
            <a:endParaRPr lang="en-US" sz="1200" dirty="0"/>
          </a:p>
        </p:txBody>
      </p:sp>
      <p:sp>
        <p:nvSpPr>
          <p:cNvPr id="5" name="Text 2"/>
          <p:cNvSpPr txBox="1"/>
          <p:nvPr/>
        </p:nvSpPr>
        <p:spPr>
          <a:xfrm>
            <a:off x="822960" y="1463040"/>
            <a:ext cx="10515600" cy="775970"/>
          </a:xfrm>
          <a:prstGeom prst="rect">
            <a:avLst/>
          </a:prstGeom>
          <a:noFill/>
          <a:ln/>
        </p:spPr>
        <p:txBody>
          <a:bodyPr wrap="square" lIns="0" tIns="0" rIns="0" bIns="0" rtlCol="0" anchor="t"/>
          <a:lstStyle/>
          <a:p>
            <a:pPr indent="0" marL="0">
              <a:buNone/>
            </a:pPr>
            <a:r>
              <a:rPr lang="en-US" sz="2300" dirty="0">
                <a:solidFill>
                  <a:schemeClr val="bg2"/>
                </a:solidFill>
              </a:rPr>
              <a:t>Selection then action, from Kakoune through Helix, with vim operator emulation, surround, textobjects and syntax-aware motions.</a:t>
            </a:r>
            <a:endParaRPr lang="en-US" sz="2300" dirty="0"/>
          </a:p>
        </p:txBody>
      </p:sp>
      <p:sp>
        <p:nvSpPr>
          <p:cNvPr id="6" name="Shape 3"/>
          <p:cNvSpPr/>
          <p:nvPr/>
        </p:nvSpPr>
        <p:spPr>
          <a:xfrm>
            <a:off x="822960" y="2467610"/>
            <a:ext cx="2491740" cy="3658870"/>
          </a:xfrm>
          <a:prstGeom prst="roundRect">
            <a:avLst>
              <a:gd name="adj" fmla="val 4404"/>
            </a:avLst>
          </a:prstGeom>
          <a:solidFill>
            <a:schemeClr val="tx2"/>
          </a:solidFill>
          <a:ln w="12700">
            <a:solidFill>
              <a:srgbClr val="4A1A5E"/>
            </a:solidFill>
            <a:prstDash val="solid"/>
          </a:ln>
        </p:spPr>
      </p:sp>
      <p:sp>
        <p:nvSpPr>
          <p:cNvPr id="7" name="Text 4"/>
          <p:cNvSpPr txBox="1"/>
          <p:nvPr/>
        </p:nvSpPr>
        <p:spPr>
          <a:xfrm>
            <a:off x="1097280" y="2696210"/>
            <a:ext cx="1943100" cy="45720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Surround</a:t>
            </a:r>
            <a:endParaRPr lang="en-US" sz="2000" dirty="0"/>
          </a:p>
        </p:txBody>
      </p:sp>
      <p:sp>
        <p:nvSpPr>
          <p:cNvPr id="8" name="Text 5"/>
          <p:cNvSpPr txBox="1"/>
          <p:nvPr/>
        </p:nvSpPr>
        <p:spPr>
          <a:xfrm>
            <a:off x="1097280" y="3290570"/>
            <a:ext cx="1943100" cy="2607310"/>
          </a:xfrm>
          <a:prstGeom prst="rect">
            <a:avLst/>
          </a:prstGeom>
          <a:noFill/>
          <a:ln/>
        </p:spPr>
        <p:txBody>
          <a:bodyPr wrap="square" lIns="0" tIns="0" rIns="0" bIns="0" rtlCol="0" anchor="t"/>
          <a:lstStyle/>
          <a:p>
            <a:pPr indent="0" marL="0">
              <a:buNone/>
            </a:pPr>
            <a:r>
              <a:rPr lang="en-US" sz="2800" dirty="0">
                <a:solidFill>
                  <a:schemeClr val="bg2"/>
                </a:solidFill>
              </a:rPr>
              <a:t>ms, mr, md</a:t>
            </a:r>
            <a:endParaRPr lang="en-US" sz="2800" dirty="0"/>
          </a:p>
        </p:txBody>
      </p:sp>
      <p:sp>
        <p:nvSpPr>
          <p:cNvPr id="9" name="Shape 6"/>
          <p:cNvSpPr/>
          <p:nvPr/>
        </p:nvSpPr>
        <p:spPr>
          <a:xfrm>
            <a:off x="3497580" y="2467610"/>
            <a:ext cx="2491740" cy="3658870"/>
          </a:xfrm>
          <a:prstGeom prst="roundRect">
            <a:avLst>
              <a:gd name="adj" fmla="val 4404"/>
            </a:avLst>
          </a:prstGeom>
          <a:solidFill>
            <a:schemeClr val="tx2"/>
          </a:solidFill>
          <a:ln w="12700">
            <a:solidFill>
              <a:srgbClr val="4A1A5E"/>
            </a:solidFill>
            <a:prstDash val="solid"/>
          </a:ln>
        </p:spPr>
      </p:sp>
      <p:sp>
        <p:nvSpPr>
          <p:cNvPr id="10" name="Text 7"/>
          <p:cNvSpPr txBox="1"/>
          <p:nvPr/>
        </p:nvSpPr>
        <p:spPr>
          <a:xfrm>
            <a:off x="3771900" y="2696210"/>
            <a:ext cx="1943100" cy="45720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Textobjects</a:t>
            </a:r>
            <a:endParaRPr lang="en-US" sz="2000" dirty="0"/>
          </a:p>
        </p:txBody>
      </p:sp>
      <p:sp>
        <p:nvSpPr>
          <p:cNvPr id="11" name="Text 8"/>
          <p:cNvSpPr txBox="1"/>
          <p:nvPr/>
        </p:nvSpPr>
        <p:spPr>
          <a:xfrm>
            <a:off x="3771900" y="3290570"/>
            <a:ext cx="1943100" cy="2607310"/>
          </a:xfrm>
          <a:prstGeom prst="rect">
            <a:avLst/>
          </a:prstGeom>
          <a:noFill/>
          <a:ln/>
        </p:spPr>
        <p:txBody>
          <a:bodyPr wrap="square" lIns="0" tIns="0" rIns="0" bIns="0" rtlCol="0" anchor="t"/>
          <a:lstStyle/>
          <a:p>
            <a:pPr indent="0" marL="0">
              <a:buNone/>
            </a:pPr>
            <a:r>
              <a:rPr lang="en-US" sz="2800" dirty="0">
                <a:solidFill>
                  <a:schemeClr val="bg2"/>
                </a:solidFill>
              </a:rPr>
              <a:t>ma and mi with tree-sitter objects</a:t>
            </a:r>
            <a:endParaRPr lang="en-US" sz="2800" dirty="0"/>
          </a:p>
        </p:txBody>
      </p:sp>
      <p:sp>
        <p:nvSpPr>
          <p:cNvPr id="12" name="Shape 9"/>
          <p:cNvSpPr/>
          <p:nvPr/>
        </p:nvSpPr>
        <p:spPr>
          <a:xfrm>
            <a:off x="6172200" y="2467610"/>
            <a:ext cx="2491740" cy="3658870"/>
          </a:xfrm>
          <a:prstGeom prst="roundRect">
            <a:avLst>
              <a:gd name="adj" fmla="val 4404"/>
            </a:avLst>
          </a:prstGeom>
          <a:solidFill>
            <a:schemeClr val="tx2"/>
          </a:solidFill>
          <a:ln w="12700">
            <a:solidFill>
              <a:srgbClr val="4A1A5E"/>
            </a:solidFill>
            <a:prstDash val="solid"/>
          </a:ln>
        </p:spPr>
      </p:sp>
      <p:sp>
        <p:nvSpPr>
          <p:cNvPr id="13" name="Text 10"/>
          <p:cNvSpPr txBox="1"/>
          <p:nvPr/>
        </p:nvSpPr>
        <p:spPr>
          <a:xfrm>
            <a:off x="6446520" y="2696210"/>
            <a:ext cx="1943100" cy="45720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Motions</a:t>
            </a:r>
            <a:endParaRPr lang="en-US" sz="2000" dirty="0"/>
          </a:p>
        </p:txBody>
      </p:sp>
      <p:sp>
        <p:nvSpPr>
          <p:cNvPr id="14" name="Text 11"/>
          <p:cNvSpPr txBox="1"/>
          <p:nvPr/>
        </p:nvSpPr>
        <p:spPr>
          <a:xfrm>
            <a:off x="6446520" y="3290570"/>
            <a:ext cx="1943100" cy="2607310"/>
          </a:xfrm>
          <a:prstGeom prst="rect">
            <a:avLst/>
          </a:prstGeom>
          <a:noFill/>
          <a:ln/>
        </p:spPr>
        <p:txBody>
          <a:bodyPr wrap="square" lIns="0" tIns="0" rIns="0" bIns="0" rtlCol="0" anchor="t"/>
          <a:lstStyle/>
          <a:p>
            <a:pPr indent="0" marL="0">
              <a:buNone/>
            </a:pPr>
            <a:r>
              <a:rPr lang="en-US" sz="2800" dirty="0">
                <a:solidFill>
                  <a:schemeClr val="bg2"/>
                </a:solidFill>
              </a:rPr>
              <a:t>Alt-p, Alt-o, Alt-i, Alt-n by syntax tree</a:t>
            </a:r>
            <a:endParaRPr lang="en-US" sz="2800" dirty="0"/>
          </a:p>
        </p:txBody>
      </p:sp>
      <p:sp>
        <p:nvSpPr>
          <p:cNvPr id="15" name="Shape 12"/>
          <p:cNvSpPr/>
          <p:nvPr/>
        </p:nvSpPr>
        <p:spPr>
          <a:xfrm>
            <a:off x="8846820" y="2467610"/>
            <a:ext cx="2491740" cy="3658870"/>
          </a:xfrm>
          <a:prstGeom prst="roundRect">
            <a:avLst>
              <a:gd name="adj" fmla="val 4404"/>
            </a:avLst>
          </a:prstGeom>
          <a:solidFill>
            <a:schemeClr val="tx2"/>
          </a:solidFill>
          <a:ln w="12700">
            <a:solidFill>
              <a:srgbClr val="4A1A5E"/>
            </a:solidFill>
            <a:prstDash val="solid"/>
          </a:ln>
        </p:spPr>
      </p:sp>
      <p:sp>
        <p:nvSpPr>
          <p:cNvPr id="16" name="Text 13"/>
          <p:cNvSpPr txBox="1"/>
          <p:nvPr/>
        </p:nvSpPr>
        <p:spPr>
          <a:xfrm>
            <a:off x="9121140" y="2696210"/>
            <a:ext cx="1943100" cy="45720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Wildfire</a:t>
            </a:r>
            <a:endParaRPr lang="en-US" sz="2000" dirty="0"/>
          </a:p>
        </p:txBody>
      </p:sp>
      <p:sp>
        <p:nvSpPr>
          <p:cNvPr id="17" name="Text 14"/>
          <p:cNvSpPr txBox="1"/>
          <p:nvPr/>
        </p:nvSpPr>
        <p:spPr>
          <a:xfrm>
            <a:off x="9121140" y="3290570"/>
            <a:ext cx="1943100" cy="2607310"/>
          </a:xfrm>
          <a:prstGeom prst="rect">
            <a:avLst/>
          </a:prstGeom>
          <a:noFill/>
          <a:ln/>
        </p:spPr>
        <p:txBody>
          <a:bodyPr wrap="square" lIns="0" tIns="0" rIns="0" bIns="0" rtlCol="0" anchor="t"/>
          <a:lstStyle/>
          <a:p>
            <a:pPr indent="0" marL="0">
              <a:buNone/>
            </a:pPr>
            <a:r>
              <a:rPr lang="en-US" sz="2800" dirty="0">
                <a:solidFill>
                  <a:schemeClr val="bg2"/>
                </a:solidFill>
              </a:rPr>
              <a:t>&lt;ret&gt; grows the selection</a:t>
            </a:r>
            <a:endParaRPr lang="en-US" sz="28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Trust by default</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zmax / trust</a:t>
            </a:r>
            <a:endParaRPr lang="en-US" sz="1200" dirty="0"/>
          </a:p>
        </p:txBody>
      </p:sp>
      <p:sp>
        <p:nvSpPr>
          <p:cNvPr id="5" name="Text 2"/>
          <p:cNvSpPr txBox="1"/>
          <p:nvPr/>
        </p:nvSpPr>
        <p:spPr>
          <a:xfrm>
            <a:off x="822960" y="1463040"/>
            <a:ext cx="10515600" cy="775970"/>
          </a:xfrm>
          <a:prstGeom prst="rect">
            <a:avLst/>
          </a:prstGeom>
          <a:noFill/>
          <a:ln/>
        </p:spPr>
        <p:txBody>
          <a:bodyPr wrap="square" lIns="0" tIns="0" rIns="0" bIns="0" rtlCol="0" anchor="t"/>
          <a:lstStyle/>
          <a:p>
            <a:pPr indent="0" marL="0">
              <a:buNone/>
            </a:pPr>
            <a:r>
              <a:rPr lang="en-US" sz="2300" dirty="0">
                <a:solidFill>
                  <a:schemeClr val="bg2"/>
                </a:solidFill>
              </a:rPr>
              <a:t>Workspace trust gates local config and repo git config behind a one-time prompt, in the direnv style, so a cloned repo cannot run code unasked.</a:t>
            </a:r>
            <a:endParaRPr lang="en-US" sz="2300" dirty="0"/>
          </a:p>
        </p:txBody>
      </p:sp>
      <p:sp>
        <p:nvSpPr>
          <p:cNvPr id="6" name="Shape 3"/>
          <p:cNvSpPr/>
          <p:nvPr/>
        </p:nvSpPr>
        <p:spPr>
          <a:xfrm>
            <a:off x="822960" y="2467610"/>
            <a:ext cx="2491740" cy="3658870"/>
          </a:xfrm>
          <a:prstGeom prst="roundRect">
            <a:avLst>
              <a:gd name="adj" fmla="val 4404"/>
            </a:avLst>
          </a:prstGeom>
          <a:solidFill>
            <a:schemeClr val="tx2"/>
          </a:solidFill>
          <a:ln w="12700">
            <a:solidFill>
              <a:srgbClr val="4A1A5E"/>
            </a:solidFill>
            <a:prstDash val="solid"/>
          </a:ln>
        </p:spPr>
      </p:sp>
      <p:sp>
        <p:nvSpPr>
          <p:cNvPr id="7" name="Text 4"/>
          <p:cNvSpPr txBox="1"/>
          <p:nvPr/>
        </p:nvSpPr>
        <p:spPr>
          <a:xfrm>
            <a:off x="1097280" y="2696210"/>
            <a:ext cx="19431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Gated</a:t>
            </a:r>
            <a:endParaRPr lang="en-US" sz="2600" dirty="0"/>
          </a:p>
        </p:txBody>
      </p:sp>
      <p:sp>
        <p:nvSpPr>
          <p:cNvPr id="8" name="Text 5"/>
          <p:cNvSpPr txBox="1"/>
          <p:nvPr/>
        </p:nvSpPr>
        <p:spPr>
          <a:xfrm>
            <a:off x="1097280" y="3290570"/>
            <a:ext cx="1943100" cy="2607310"/>
          </a:xfrm>
          <a:prstGeom prst="rect">
            <a:avLst/>
          </a:prstGeom>
          <a:noFill/>
          <a:ln/>
        </p:spPr>
        <p:txBody>
          <a:bodyPr wrap="square" lIns="0" tIns="0" rIns="0" bIns="0" rtlCol="0" anchor="t"/>
          <a:lstStyle/>
          <a:p>
            <a:pPr indent="0" marL="0">
              <a:buNone/>
            </a:pPr>
            <a:r>
              <a:rPr lang="en-US" sz="2800" dirty="0">
                <a:solidFill>
                  <a:schemeClr val="bg2"/>
                </a:solidFill>
              </a:rPr>
              <a:t>.zmax/config.toml and .git/config</a:t>
            </a:r>
            <a:endParaRPr lang="en-US" sz="2800" dirty="0"/>
          </a:p>
        </p:txBody>
      </p:sp>
      <p:sp>
        <p:nvSpPr>
          <p:cNvPr id="9" name="Shape 6"/>
          <p:cNvSpPr/>
          <p:nvPr/>
        </p:nvSpPr>
        <p:spPr>
          <a:xfrm>
            <a:off x="3497580" y="2467610"/>
            <a:ext cx="2491740" cy="3658870"/>
          </a:xfrm>
          <a:prstGeom prst="roundRect">
            <a:avLst>
              <a:gd name="adj" fmla="val 4404"/>
            </a:avLst>
          </a:prstGeom>
          <a:solidFill>
            <a:schemeClr val="tx2"/>
          </a:solidFill>
          <a:ln w="12700">
            <a:solidFill>
              <a:srgbClr val="4A1A5E"/>
            </a:solidFill>
            <a:prstDash val="solid"/>
          </a:ln>
        </p:spPr>
      </p:sp>
      <p:sp>
        <p:nvSpPr>
          <p:cNvPr id="10" name="Text 7"/>
          <p:cNvSpPr txBox="1"/>
          <p:nvPr/>
        </p:nvSpPr>
        <p:spPr>
          <a:xfrm>
            <a:off x="3771900" y="2696210"/>
            <a:ext cx="19431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Prompt</a:t>
            </a:r>
            <a:endParaRPr lang="en-US" sz="2600" dirty="0"/>
          </a:p>
        </p:txBody>
      </p:sp>
      <p:sp>
        <p:nvSpPr>
          <p:cNvPr id="11" name="Text 8"/>
          <p:cNvSpPr txBox="1"/>
          <p:nvPr/>
        </p:nvSpPr>
        <p:spPr>
          <a:xfrm>
            <a:off x="3771900" y="3290570"/>
            <a:ext cx="1943100" cy="2607310"/>
          </a:xfrm>
          <a:prstGeom prst="rect">
            <a:avLst/>
          </a:prstGeom>
          <a:noFill/>
          <a:ln/>
        </p:spPr>
        <p:txBody>
          <a:bodyPr wrap="square" lIns="0" tIns="0" rIns="0" bIns="0" rtlCol="0" anchor="t"/>
          <a:lstStyle/>
          <a:p>
            <a:pPr indent="0" marL="0">
              <a:buNone/>
            </a:pPr>
            <a:r>
              <a:rPr lang="en-US" sz="2800" dirty="0">
                <a:solidFill>
                  <a:schemeClr val="bg2"/>
                </a:solidFill>
              </a:rPr>
              <a:t>Trust or Never</a:t>
            </a:r>
            <a:endParaRPr lang="en-US" sz="2800" dirty="0"/>
          </a:p>
        </p:txBody>
      </p:sp>
      <p:sp>
        <p:nvSpPr>
          <p:cNvPr id="12" name="Shape 9"/>
          <p:cNvSpPr/>
          <p:nvPr/>
        </p:nvSpPr>
        <p:spPr>
          <a:xfrm>
            <a:off x="6172200" y="2467610"/>
            <a:ext cx="2491740" cy="3658870"/>
          </a:xfrm>
          <a:prstGeom prst="roundRect">
            <a:avLst>
              <a:gd name="adj" fmla="val 4404"/>
            </a:avLst>
          </a:prstGeom>
          <a:solidFill>
            <a:schemeClr val="tx2"/>
          </a:solidFill>
          <a:ln w="12700">
            <a:solidFill>
              <a:srgbClr val="4A1A5E"/>
            </a:solidFill>
            <a:prstDash val="solid"/>
          </a:ln>
        </p:spPr>
      </p:sp>
      <p:sp>
        <p:nvSpPr>
          <p:cNvPr id="13" name="Text 10"/>
          <p:cNvSpPr txBox="1"/>
          <p:nvPr/>
        </p:nvSpPr>
        <p:spPr>
          <a:xfrm>
            <a:off x="6446520" y="2696210"/>
            <a:ext cx="19431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LSP</a:t>
            </a:r>
            <a:endParaRPr lang="en-US" sz="2600" dirty="0"/>
          </a:p>
        </p:txBody>
      </p:sp>
      <p:sp>
        <p:nvSpPr>
          <p:cNvPr id="14" name="Text 11"/>
          <p:cNvSpPr txBox="1"/>
          <p:nvPr/>
        </p:nvSpPr>
        <p:spPr>
          <a:xfrm>
            <a:off x="6446520" y="3290570"/>
            <a:ext cx="1943100" cy="2607310"/>
          </a:xfrm>
          <a:prstGeom prst="rect">
            <a:avLst/>
          </a:prstGeom>
          <a:noFill/>
          <a:ln/>
        </p:spPr>
        <p:txBody>
          <a:bodyPr wrap="square" lIns="0" tIns="0" rIns="0" bIns="0" rtlCol="0" anchor="t"/>
          <a:lstStyle/>
          <a:p>
            <a:pPr indent="0" marL="0">
              <a:buNone/>
            </a:pPr>
            <a:r>
              <a:rPr lang="en-US" sz="2800" dirty="0">
                <a:solidFill>
                  <a:schemeClr val="bg2"/>
                </a:solidFill>
              </a:rPr>
              <a:t>Binaries from PATH only</a:t>
            </a:r>
            <a:endParaRPr lang="en-US" sz="2800" dirty="0"/>
          </a:p>
        </p:txBody>
      </p:sp>
      <p:sp>
        <p:nvSpPr>
          <p:cNvPr id="15" name="Shape 12"/>
          <p:cNvSpPr/>
          <p:nvPr/>
        </p:nvSpPr>
        <p:spPr>
          <a:xfrm>
            <a:off x="8846820" y="2467610"/>
            <a:ext cx="2491740" cy="3658870"/>
          </a:xfrm>
          <a:prstGeom prst="roundRect">
            <a:avLst>
              <a:gd name="adj" fmla="val 4404"/>
            </a:avLst>
          </a:prstGeom>
          <a:solidFill>
            <a:schemeClr val="tx2"/>
          </a:solidFill>
          <a:ln w="12700">
            <a:solidFill>
              <a:srgbClr val="4A1A5E"/>
            </a:solidFill>
            <a:prstDash val="solid"/>
          </a:ln>
        </p:spPr>
      </p:sp>
      <p:sp>
        <p:nvSpPr>
          <p:cNvPr id="16" name="Text 13"/>
          <p:cNvSpPr txBox="1"/>
          <p:nvPr/>
        </p:nvSpPr>
        <p:spPr>
          <a:xfrm>
            <a:off x="9121140" y="2696210"/>
            <a:ext cx="19431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DAP</a:t>
            </a:r>
            <a:endParaRPr lang="en-US" sz="2600" dirty="0"/>
          </a:p>
        </p:txBody>
      </p:sp>
      <p:sp>
        <p:nvSpPr>
          <p:cNvPr id="17" name="Text 14"/>
          <p:cNvSpPr txBox="1"/>
          <p:nvPr/>
        </p:nvSpPr>
        <p:spPr>
          <a:xfrm>
            <a:off x="9121140" y="3290570"/>
            <a:ext cx="1943100" cy="2607310"/>
          </a:xfrm>
          <a:prstGeom prst="rect">
            <a:avLst/>
          </a:prstGeom>
          <a:noFill/>
          <a:ln/>
        </p:spPr>
        <p:txBody>
          <a:bodyPr wrap="square" lIns="0" tIns="0" rIns="0" bIns="0" rtlCol="0" anchor="t"/>
          <a:lstStyle/>
          <a:p>
            <a:pPr indent="0" marL="0">
              <a:buNone/>
            </a:pPr>
            <a:r>
              <a:rPr lang="en-US" sz="2800" dirty="0">
                <a:solidFill>
                  <a:schemeClr val="bg2"/>
                </a:solidFill>
              </a:rPr>
              <a:t>Never automatic</a:t>
            </a:r>
            <a:endParaRPr lang="en-US" sz="28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Workbench</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zmax / ide</a:t>
            </a:r>
            <a:endParaRPr lang="en-US" sz="1200" dirty="0"/>
          </a:p>
        </p:txBody>
      </p:sp>
      <p:sp>
        <p:nvSpPr>
          <p:cNvPr id="5" name="Text 2"/>
          <p:cNvSpPr txBox="1"/>
          <p:nvPr/>
        </p:nvSpPr>
        <p:spPr>
          <a:xfrm>
            <a:off x="822960" y="1463040"/>
            <a:ext cx="10515600" cy="775970"/>
          </a:xfrm>
          <a:prstGeom prst="rect">
            <a:avLst/>
          </a:prstGeom>
          <a:noFill/>
          <a:ln/>
        </p:spPr>
        <p:txBody>
          <a:bodyPr wrap="square" lIns="0" tIns="0" rIns="0" bIns="0" rtlCol="0" anchor="t"/>
          <a:lstStyle/>
          <a:p>
            <a:pPr indent="0" marL="0">
              <a:buNone/>
            </a:pPr>
            <a:r>
              <a:rPr lang="en-US" sz="2300" dirty="0">
                <a:solidFill>
                  <a:schemeClr val="bg2"/>
                </a:solidFill>
              </a:rPr>
              <a:t>:ide or F2 opens a project tree, a tree-sitter outline, problems and run panels, and an error-stripe minimap, persisted to appdata.</a:t>
            </a:r>
            <a:endParaRPr lang="en-US" sz="2300" dirty="0"/>
          </a:p>
        </p:txBody>
      </p:sp>
      <p:sp>
        <p:nvSpPr>
          <p:cNvPr id="6" name="Shape 3"/>
          <p:cNvSpPr/>
          <p:nvPr/>
        </p:nvSpPr>
        <p:spPr>
          <a:xfrm>
            <a:off x="822960" y="2467610"/>
            <a:ext cx="2491740" cy="3658870"/>
          </a:xfrm>
          <a:prstGeom prst="roundRect">
            <a:avLst>
              <a:gd name="adj" fmla="val 4404"/>
            </a:avLst>
          </a:prstGeom>
          <a:solidFill>
            <a:schemeClr val="tx2"/>
          </a:solidFill>
          <a:ln w="12700">
            <a:solidFill>
              <a:srgbClr val="4A1A5E"/>
            </a:solidFill>
            <a:prstDash val="solid"/>
          </a:ln>
        </p:spPr>
      </p:sp>
      <p:sp>
        <p:nvSpPr>
          <p:cNvPr id="7" name="Text 4"/>
          <p:cNvSpPr txBox="1"/>
          <p:nvPr/>
        </p:nvSpPr>
        <p:spPr>
          <a:xfrm>
            <a:off x="1097280" y="2696210"/>
            <a:ext cx="19431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Tree</a:t>
            </a:r>
            <a:endParaRPr lang="en-US" sz="2600" dirty="0"/>
          </a:p>
        </p:txBody>
      </p:sp>
      <p:sp>
        <p:nvSpPr>
          <p:cNvPr id="8" name="Text 5"/>
          <p:cNvSpPr txBox="1"/>
          <p:nvPr/>
        </p:nvSpPr>
        <p:spPr>
          <a:xfrm>
            <a:off x="1097280" y="3290570"/>
            <a:ext cx="1943100" cy="2607310"/>
          </a:xfrm>
          <a:prstGeom prst="rect">
            <a:avLst/>
          </a:prstGeom>
          <a:noFill/>
          <a:ln/>
        </p:spPr>
        <p:txBody>
          <a:bodyPr wrap="square" lIns="0" tIns="0" rIns="0" bIns="0" rtlCol="0" anchor="t"/>
          <a:lstStyle/>
          <a:p>
            <a:pPr indent="0" marL="0">
              <a:buNone/>
            </a:pPr>
            <a:r>
              <a:rPr lang="en-US" sz="2800" dirty="0">
                <a:solidFill>
                  <a:schemeClr val="bg2"/>
                </a:solidFill>
              </a:rPr>
              <a:t>Project file tree</a:t>
            </a:r>
            <a:endParaRPr lang="en-US" sz="2800" dirty="0"/>
          </a:p>
        </p:txBody>
      </p:sp>
      <p:sp>
        <p:nvSpPr>
          <p:cNvPr id="9" name="Shape 6"/>
          <p:cNvSpPr/>
          <p:nvPr/>
        </p:nvSpPr>
        <p:spPr>
          <a:xfrm>
            <a:off x="3497580" y="2467610"/>
            <a:ext cx="2491740" cy="3658870"/>
          </a:xfrm>
          <a:prstGeom prst="roundRect">
            <a:avLst>
              <a:gd name="adj" fmla="val 4404"/>
            </a:avLst>
          </a:prstGeom>
          <a:solidFill>
            <a:schemeClr val="tx2"/>
          </a:solidFill>
          <a:ln w="12700">
            <a:solidFill>
              <a:srgbClr val="4A1A5E"/>
            </a:solidFill>
            <a:prstDash val="solid"/>
          </a:ln>
        </p:spPr>
      </p:sp>
      <p:sp>
        <p:nvSpPr>
          <p:cNvPr id="10" name="Text 7"/>
          <p:cNvSpPr txBox="1"/>
          <p:nvPr/>
        </p:nvSpPr>
        <p:spPr>
          <a:xfrm>
            <a:off x="3771900" y="2696210"/>
            <a:ext cx="19431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Outline</a:t>
            </a:r>
            <a:endParaRPr lang="en-US" sz="2600" dirty="0"/>
          </a:p>
        </p:txBody>
      </p:sp>
      <p:sp>
        <p:nvSpPr>
          <p:cNvPr id="11" name="Text 8"/>
          <p:cNvSpPr txBox="1"/>
          <p:nvPr/>
        </p:nvSpPr>
        <p:spPr>
          <a:xfrm>
            <a:off x="3771900" y="3290570"/>
            <a:ext cx="1943100" cy="2607310"/>
          </a:xfrm>
          <a:prstGeom prst="rect">
            <a:avLst/>
          </a:prstGeom>
          <a:noFill/>
          <a:ln/>
        </p:spPr>
        <p:txBody>
          <a:bodyPr wrap="square" lIns="0" tIns="0" rIns="0" bIns="0" rtlCol="0" anchor="t"/>
          <a:lstStyle/>
          <a:p>
            <a:pPr indent="0" marL="0">
              <a:buNone/>
            </a:pPr>
            <a:r>
              <a:rPr lang="en-US" sz="2800" dirty="0">
                <a:solidFill>
                  <a:schemeClr val="bg2"/>
                </a:solidFill>
              </a:rPr>
              <a:t>Structure from tree-sitter</a:t>
            </a:r>
            <a:endParaRPr lang="en-US" sz="2800" dirty="0"/>
          </a:p>
        </p:txBody>
      </p:sp>
      <p:sp>
        <p:nvSpPr>
          <p:cNvPr id="12" name="Shape 9"/>
          <p:cNvSpPr/>
          <p:nvPr/>
        </p:nvSpPr>
        <p:spPr>
          <a:xfrm>
            <a:off x="6172200" y="2467610"/>
            <a:ext cx="2491740" cy="3658870"/>
          </a:xfrm>
          <a:prstGeom prst="roundRect">
            <a:avLst>
              <a:gd name="adj" fmla="val 4404"/>
            </a:avLst>
          </a:prstGeom>
          <a:solidFill>
            <a:schemeClr val="tx2"/>
          </a:solidFill>
          <a:ln w="12700">
            <a:solidFill>
              <a:srgbClr val="4A1A5E"/>
            </a:solidFill>
            <a:prstDash val="solid"/>
          </a:ln>
        </p:spPr>
      </p:sp>
      <p:sp>
        <p:nvSpPr>
          <p:cNvPr id="13" name="Text 10"/>
          <p:cNvSpPr txBox="1"/>
          <p:nvPr/>
        </p:nvSpPr>
        <p:spPr>
          <a:xfrm>
            <a:off x="6446520" y="2696210"/>
            <a:ext cx="19431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Panels</a:t>
            </a:r>
            <a:endParaRPr lang="en-US" sz="2600" dirty="0"/>
          </a:p>
        </p:txBody>
      </p:sp>
      <p:sp>
        <p:nvSpPr>
          <p:cNvPr id="14" name="Text 11"/>
          <p:cNvSpPr txBox="1"/>
          <p:nvPr/>
        </p:nvSpPr>
        <p:spPr>
          <a:xfrm>
            <a:off x="6446520" y="3290570"/>
            <a:ext cx="1943100" cy="2607310"/>
          </a:xfrm>
          <a:prstGeom prst="rect">
            <a:avLst/>
          </a:prstGeom>
          <a:noFill/>
          <a:ln/>
        </p:spPr>
        <p:txBody>
          <a:bodyPr wrap="square" lIns="0" tIns="0" rIns="0" bIns="0" rtlCol="0" anchor="t"/>
          <a:lstStyle/>
          <a:p>
            <a:pPr indent="0" marL="0">
              <a:buNone/>
            </a:pPr>
            <a:r>
              <a:rPr lang="en-US" sz="2800" dirty="0">
                <a:solidFill>
                  <a:schemeClr val="bg2"/>
                </a:solidFill>
              </a:rPr>
              <a:t>Problems and run</a:t>
            </a:r>
            <a:endParaRPr lang="en-US" sz="2800" dirty="0"/>
          </a:p>
        </p:txBody>
      </p:sp>
      <p:sp>
        <p:nvSpPr>
          <p:cNvPr id="15" name="Shape 12"/>
          <p:cNvSpPr/>
          <p:nvPr/>
        </p:nvSpPr>
        <p:spPr>
          <a:xfrm>
            <a:off x="8846820" y="2467610"/>
            <a:ext cx="2491740" cy="3658870"/>
          </a:xfrm>
          <a:prstGeom prst="roundRect">
            <a:avLst>
              <a:gd name="adj" fmla="val 4404"/>
            </a:avLst>
          </a:prstGeom>
          <a:solidFill>
            <a:schemeClr val="tx2"/>
          </a:solidFill>
          <a:ln w="12700">
            <a:solidFill>
              <a:srgbClr val="4A1A5E"/>
            </a:solidFill>
            <a:prstDash val="solid"/>
          </a:ln>
        </p:spPr>
      </p:sp>
      <p:sp>
        <p:nvSpPr>
          <p:cNvPr id="16" name="Text 13"/>
          <p:cNvSpPr txBox="1"/>
          <p:nvPr/>
        </p:nvSpPr>
        <p:spPr>
          <a:xfrm>
            <a:off x="9121140" y="2696210"/>
            <a:ext cx="19431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Minimap</a:t>
            </a:r>
            <a:endParaRPr lang="en-US" sz="2600" dirty="0"/>
          </a:p>
        </p:txBody>
      </p:sp>
      <p:sp>
        <p:nvSpPr>
          <p:cNvPr id="17" name="Text 14"/>
          <p:cNvSpPr txBox="1"/>
          <p:nvPr/>
        </p:nvSpPr>
        <p:spPr>
          <a:xfrm>
            <a:off x="9121140" y="3290570"/>
            <a:ext cx="1943100" cy="2607310"/>
          </a:xfrm>
          <a:prstGeom prst="rect">
            <a:avLst/>
          </a:prstGeom>
          <a:noFill/>
          <a:ln/>
        </p:spPr>
        <p:txBody>
          <a:bodyPr wrap="square" lIns="0" tIns="0" rIns="0" bIns="0" rtlCol="0" anchor="t"/>
          <a:lstStyle/>
          <a:p>
            <a:pPr indent="0" marL="0">
              <a:buNone/>
            </a:pPr>
            <a:r>
              <a:rPr lang="en-US" sz="2800" dirty="0">
                <a:solidFill>
                  <a:schemeClr val="bg2"/>
                </a:solidFill>
              </a:rPr>
              <a:t>Error stripe</a:t>
            </a:r>
            <a:endParaRPr lang="en-US" sz="28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The report architecture</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zmax / report</a:t>
            </a:r>
            <a:endParaRPr lang="en-US" sz="1200" dirty="0"/>
          </a:p>
        </p:txBody>
      </p:sp>
      <p:sp>
        <p:nvSpPr>
          <p:cNvPr id="5" name="Text 2"/>
          <p:cNvSpPr txBox="1"/>
          <p:nvPr/>
        </p:nvSpPr>
        <p:spPr>
          <a:xfrm>
            <a:off x="822960" y="1463040"/>
            <a:ext cx="10515600" cy="775970"/>
          </a:xfrm>
          <a:prstGeom prst="rect">
            <a:avLst/>
          </a:prstGeom>
          <a:noFill/>
          <a:ln/>
        </p:spPr>
        <p:txBody>
          <a:bodyPr wrap="square" lIns="0" tIns="0" rIns="0" bIns="0" rtlCol="0" anchor="t"/>
          <a:lstStyle/>
          <a:p>
            <a:pPr indent="0" marL="0">
              <a:buNone/>
            </a:pPr>
            <a:r>
              <a:rPr lang="en-US" sz="2300" dirty="0">
                <a:solidFill>
                  <a:schemeClr val="bg2"/>
                </a:solidFill>
              </a:rPr>
              <a:t>A denominator of cited inventories, one curated mapping file, and a generator that re-derives the numerator from source.</a:t>
            </a:r>
            <a:endParaRPr lang="en-US" sz="2300" dirty="0"/>
          </a:p>
        </p:txBody>
      </p:sp>
      <p:sp>
        <p:nvSpPr>
          <p:cNvPr id="6" name="Shape 3"/>
          <p:cNvSpPr/>
          <p:nvPr/>
        </p:nvSpPr>
        <p:spPr>
          <a:xfrm>
            <a:off x="822960" y="2467610"/>
            <a:ext cx="2491740" cy="3658870"/>
          </a:xfrm>
          <a:prstGeom prst="roundRect">
            <a:avLst>
              <a:gd name="adj" fmla="val 4404"/>
            </a:avLst>
          </a:prstGeom>
          <a:solidFill>
            <a:schemeClr val="tx2"/>
          </a:solidFill>
          <a:ln w="12700">
            <a:solidFill>
              <a:srgbClr val="4A1A5E"/>
            </a:solidFill>
            <a:prstDash val="solid"/>
          </a:ln>
        </p:spPr>
      </p:sp>
      <p:sp>
        <p:nvSpPr>
          <p:cNvPr id="7" name="Text 4"/>
          <p:cNvSpPr txBox="1"/>
          <p:nvPr/>
        </p:nvSpPr>
        <p:spPr>
          <a:xfrm>
            <a:off x="1097280" y="2696210"/>
            <a:ext cx="1943100" cy="45720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data/*.json</a:t>
            </a:r>
            <a:endParaRPr lang="en-US" sz="1800" dirty="0"/>
          </a:p>
        </p:txBody>
      </p:sp>
      <p:sp>
        <p:nvSpPr>
          <p:cNvPr id="8" name="Text 5"/>
          <p:cNvSpPr txBox="1"/>
          <p:nvPr/>
        </p:nvSpPr>
        <p:spPr>
          <a:xfrm>
            <a:off x="1097280" y="3290570"/>
            <a:ext cx="1943100" cy="2607310"/>
          </a:xfrm>
          <a:prstGeom prst="rect">
            <a:avLst/>
          </a:prstGeom>
          <a:noFill/>
          <a:ln/>
        </p:spPr>
        <p:txBody>
          <a:bodyPr wrap="square" lIns="0" tIns="0" rIns="0" bIns="0" rtlCol="0" anchor="t"/>
          <a:lstStyle/>
          <a:p>
            <a:pPr indent="0" marL="0">
              <a:buNone/>
            </a:pPr>
            <a:r>
              <a:rPr lang="en-US" sz="2800" dirty="0">
                <a:solidFill>
                  <a:schemeClr val="bg2"/>
                </a:solidFill>
              </a:rPr>
              <a:t>Parsed from primary sources</a:t>
            </a:r>
            <a:endParaRPr lang="en-US" sz="2800" dirty="0"/>
          </a:p>
        </p:txBody>
      </p:sp>
      <p:sp>
        <p:nvSpPr>
          <p:cNvPr id="9" name="Shape 6"/>
          <p:cNvSpPr/>
          <p:nvPr/>
        </p:nvSpPr>
        <p:spPr>
          <a:xfrm>
            <a:off x="3497580" y="2467610"/>
            <a:ext cx="2491740" cy="3658870"/>
          </a:xfrm>
          <a:prstGeom prst="roundRect">
            <a:avLst>
              <a:gd name="adj" fmla="val 4404"/>
            </a:avLst>
          </a:prstGeom>
          <a:solidFill>
            <a:schemeClr val="tx2"/>
          </a:solidFill>
          <a:ln w="12700">
            <a:solidFill>
              <a:srgbClr val="4A1A5E"/>
            </a:solidFill>
            <a:prstDash val="solid"/>
          </a:ln>
        </p:spPr>
      </p:sp>
      <p:sp>
        <p:nvSpPr>
          <p:cNvPr id="10" name="Text 7"/>
          <p:cNvSpPr txBox="1"/>
          <p:nvPr/>
        </p:nvSpPr>
        <p:spPr>
          <a:xfrm>
            <a:off x="3771900" y="2696210"/>
            <a:ext cx="1943100" cy="45720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mapping.json</a:t>
            </a:r>
            <a:endParaRPr lang="en-US" sz="1800" dirty="0"/>
          </a:p>
        </p:txBody>
      </p:sp>
      <p:sp>
        <p:nvSpPr>
          <p:cNvPr id="11" name="Text 8"/>
          <p:cNvSpPr txBox="1"/>
          <p:nvPr/>
        </p:nvSpPr>
        <p:spPr>
          <a:xfrm>
            <a:off x="3771900" y="3290570"/>
            <a:ext cx="1943100" cy="2607310"/>
          </a:xfrm>
          <a:prstGeom prst="rect">
            <a:avLst/>
          </a:prstGeom>
          <a:noFill/>
          <a:ln/>
        </p:spPr>
        <p:txBody>
          <a:bodyPr wrap="square" lIns="0" tIns="0" rIns="0" bIns="0" rtlCol="0" anchor="t"/>
          <a:lstStyle/>
          <a:p>
            <a:pPr indent="0" marL="0">
              <a:buNone/>
            </a:pPr>
            <a:r>
              <a:rPr lang="en-US" sz="2800" dirty="0">
                <a:solidFill>
                  <a:schemeClr val="bg2"/>
                </a:solidFill>
              </a:rPr>
              <a:t>The only curated artifact</a:t>
            </a:r>
            <a:endParaRPr lang="en-US" sz="2800" dirty="0"/>
          </a:p>
        </p:txBody>
      </p:sp>
      <p:sp>
        <p:nvSpPr>
          <p:cNvPr id="12" name="Shape 9"/>
          <p:cNvSpPr/>
          <p:nvPr/>
        </p:nvSpPr>
        <p:spPr>
          <a:xfrm>
            <a:off x="6172200" y="2467610"/>
            <a:ext cx="2491740" cy="3658870"/>
          </a:xfrm>
          <a:prstGeom prst="roundRect">
            <a:avLst>
              <a:gd name="adj" fmla="val 4404"/>
            </a:avLst>
          </a:prstGeom>
          <a:solidFill>
            <a:schemeClr val="tx2"/>
          </a:solidFill>
          <a:ln w="12700">
            <a:solidFill>
              <a:srgbClr val="4A1A5E"/>
            </a:solidFill>
            <a:prstDash val="solid"/>
          </a:ln>
        </p:spPr>
      </p:sp>
      <p:sp>
        <p:nvSpPr>
          <p:cNvPr id="13" name="Text 10"/>
          <p:cNvSpPr txBox="1"/>
          <p:nvPr/>
        </p:nvSpPr>
        <p:spPr>
          <a:xfrm>
            <a:off x="6446520" y="2696210"/>
            <a:ext cx="1943100" cy="45720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Generator</a:t>
            </a:r>
            <a:endParaRPr lang="en-US" sz="1800" dirty="0"/>
          </a:p>
        </p:txBody>
      </p:sp>
      <p:sp>
        <p:nvSpPr>
          <p:cNvPr id="14" name="Text 11"/>
          <p:cNvSpPr txBox="1"/>
          <p:nvPr/>
        </p:nvSpPr>
        <p:spPr>
          <a:xfrm>
            <a:off x="6446520" y="3290570"/>
            <a:ext cx="1943100" cy="2607310"/>
          </a:xfrm>
          <a:prstGeom prst="rect">
            <a:avLst/>
          </a:prstGeom>
          <a:noFill/>
          <a:ln/>
        </p:spPr>
        <p:txBody>
          <a:bodyPr wrap="square" lIns="0" tIns="0" rIns="0" bIns="0" rtlCol="0" anchor="t"/>
          <a:lstStyle/>
          <a:p>
            <a:pPr indent="0" marL="0">
              <a:buNone/>
            </a:pPr>
            <a:r>
              <a:rPr lang="en-US" sz="2800" dirty="0">
                <a:solidFill>
                  <a:schemeClr val="bg2"/>
                </a:solidFill>
              </a:rPr>
              <a:t>scripts/gen_port_report.py</a:t>
            </a:r>
            <a:endParaRPr lang="en-US" sz="2800" dirty="0"/>
          </a:p>
        </p:txBody>
      </p:sp>
      <p:sp>
        <p:nvSpPr>
          <p:cNvPr id="15" name="Shape 12"/>
          <p:cNvSpPr/>
          <p:nvPr/>
        </p:nvSpPr>
        <p:spPr>
          <a:xfrm>
            <a:off x="8846820" y="2467610"/>
            <a:ext cx="2491740" cy="3658870"/>
          </a:xfrm>
          <a:prstGeom prst="roundRect">
            <a:avLst>
              <a:gd name="adj" fmla="val 4404"/>
            </a:avLst>
          </a:prstGeom>
          <a:solidFill>
            <a:schemeClr val="tx2"/>
          </a:solidFill>
          <a:ln w="12700">
            <a:solidFill>
              <a:srgbClr val="4A1A5E"/>
            </a:solidFill>
            <a:prstDash val="solid"/>
          </a:ln>
        </p:spPr>
      </p:sp>
      <p:sp>
        <p:nvSpPr>
          <p:cNvPr id="16" name="Text 13"/>
          <p:cNvSpPr txBox="1"/>
          <p:nvPr/>
        </p:nvSpPr>
        <p:spPr>
          <a:xfrm>
            <a:off x="9121140" y="2696210"/>
            <a:ext cx="1943100" cy="45720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Output</a:t>
            </a:r>
            <a:endParaRPr lang="en-US" sz="1800" dirty="0"/>
          </a:p>
        </p:txBody>
      </p:sp>
      <p:sp>
        <p:nvSpPr>
          <p:cNvPr id="17" name="Text 14"/>
          <p:cNvSpPr txBox="1"/>
          <p:nvPr/>
        </p:nvSpPr>
        <p:spPr>
          <a:xfrm>
            <a:off x="9121140" y="3290570"/>
            <a:ext cx="1943100" cy="2607310"/>
          </a:xfrm>
          <a:prstGeom prst="rect">
            <a:avLst/>
          </a:prstGeom>
          <a:noFill/>
          <a:ln/>
        </p:spPr>
        <p:txBody>
          <a:bodyPr wrap="square" lIns="0" tIns="0" rIns="0" bIns="0" rtlCol="0" anchor="t"/>
          <a:lstStyle/>
          <a:p>
            <a:pPr indent="0" marL="0">
              <a:buNone/>
            </a:pPr>
            <a:r>
              <a:rPr lang="en-US" sz="2800" dirty="0">
                <a:solidFill>
                  <a:schemeClr val="bg2"/>
                </a:solidFill>
              </a:rPr>
              <a:t>Markdown and styled HTML</a:t>
            </a:r>
            <a:endParaRPr lang="en-US" sz="28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Capability coverage</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zmax / report</a:t>
            </a:r>
            <a:endParaRPr lang="en-US" sz="1200" dirty="0"/>
          </a:p>
        </p:txBody>
      </p:sp>
      <p:sp>
        <p:nvSpPr>
          <p:cNvPr id="5" name="Text 2"/>
          <p:cNvSpPr txBox="1"/>
          <p:nvPr/>
        </p:nvSpPr>
        <p:spPr>
          <a:xfrm>
            <a:off x="822960" y="1463040"/>
            <a:ext cx="10515600" cy="807720"/>
          </a:xfrm>
          <a:prstGeom prst="rect">
            <a:avLst/>
          </a:prstGeom>
          <a:noFill/>
          <a:ln/>
        </p:spPr>
        <p:txBody>
          <a:bodyPr wrap="square" lIns="0" tIns="0" rIns="0" bIns="0" rtlCol="0" anchor="t"/>
          <a:lstStyle/>
          <a:p>
            <a:pPr indent="0" marL="0">
              <a:buNone/>
            </a:pPr>
            <a:r>
              <a:rPr lang="en-US" sz="2400" dirty="0">
                <a:solidFill>
                  <a:schemeClr val="bg2"/>
                </a:solidFill>
              </a:rPr>
              <a:t>The headline measure counts distinct capabilities once, regardless of how many ancestor editors expose them.</a:t>
            </a:r>
            <a:endParaRPr lang="en-US" sz="2400" dirty="0"/>
          </a:p>
        </p:txBody>
      </p:sp>
      <p:sp>
        <p:nvSpPr>
          <p:cNvPr id="6" name="Shape 3"/>
          <p:cNvSpPr/>
          <p:nvPr/>
        </p:nvSpPr>
        <p:spPr>
          <a:xfrm>
            <a:off x="822960" y="2499360"/>
            <a:ext cx="2491740" cy="3627120"/>
          </a:xfrm>
          <a:prstGeom prst="roundRect">
            <a:avLst>
              <a:gd name="adj" fmla="val 4404"/>
            </a:avLst>
          </a:prstGeom>
          <a:solidFill>
            <a:schemeClr val="tx2"/>
          </a:solidFill>
          <a:ln w="12700">
            <a:solidFill>
              <a:srgbClr val="4A1A5E"/>
            </a:solidFill>
            <a:prstDash val="solid"/>
          </a:ln>
        </p:spPr>
      </p:sp>
      <p:sp>
        <p:nvSpPr>
          <p:cNvPr id="7" name="Text 4"/>
          <p:cNvSpPr txBox="1"/>
          <p:nvPr/>
        </p:nvSpPr>
        <p:spPr>
          <a:xfrm>
            <a:off x="1097280" y="2727960"/>
            <a:ext cx="194310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Question</a:t>
            </a:r>
            <a:endParaRPr lang="en-US" sz="2200" dirty="0"/>
          </a:p>
        </p:txBody>
      </p:sp>
      <p:sp>
        <p:nvSpPr>
          <p:cNvPr id="8" name="Text 5"/>
          <p:cNvSpPr txBox="1"/>
          <p:nvPr/>
        </p:nvSpPr>
        <p:spPr>
          <a:xfrm>
            <a:off x="1097280" y="3322320"/>
            <a:ext cx="1943100" cy="2575560"/>
          </a:xfrm>
          <a:prstGeom prst="rect">
            <a:avLst/>
          </a:prstGeom>
          <a:noFill/>
          <a:ln/>
        </p:spPr>
        <p:txBody>
          <a:bodyPr wrap="square" lIns="0" tIns="0" rIns="0" bIns="0" rtlCol="0" anchor="t"/>
          <a:lstStyle/>
          <a:p>
            <a:pPr indent="0" marL="0">
              <a:buNone/>
            </a:pPr>
            <a:r>
              <a:rPr lang="en-US" sz="2800" dirty="0">
                <a:solidFill>
                  <a:schemeClr val="bg2"/>
                </a:solidFill>
              </a:rPr>
              <a:t>What can zmax do, not how many keys overlap</a:t>
            </a:r>
            <a:endParaRPr lang="en-US" sz="2800" dirty="0"/>
          </a:p>
        </p:txBody>
      </p:sp>
      <p:sp>
        <p:nvSpPr>
          <p:cNvPr id="9" name="Shape 6"/>
          <p:cNvSpPr/>
          <p:nvPr/>
        </p:nvSpPr>
        <p:spPr>
          <a:xfrm>
            <a:off x="3497580" y="2499360"/>
            <a:ext cx="2491740" cy="3627120"/>
          </a:xfrm>
          <a:prstGeom prst="roundRect">
            <a:avLst>
              <a:gd name="adj" fmla="val 4404"/>
            </a:avLst>
          </a:prstGeom>
          <a:solidFill>
            <a:schemeClr val="tx2"/>
          </a:solidFill>
          <a:ln w="12700">
            <a:solidFill>
              <a:srgbClr val="4A1A5E"/>
            </a:solidFill>
            <a:prstDash val="solid"/>
          </a:ln>
        </p:spPr>
      </p:sp>
      <p:sp>
        <p:nvSpPr>
          <p:cNvPr id="10" name="Text 7"/>
          <p:cNvSpPr txBox="1"/>
          <p:nvPr/>
        </p:nvSpPr>
        <p:spPr>
          <a:xfrm>
            <a:off x="3771900" y="2727960"/>
            <a:ext cx="194310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Taxonomy</a:t>
            </a:r>
            <a:endParaRPr lang="en-US" sz="2200" dirty="0"/>
          </a:p>
        </p:txBody>
      </p:sp>
      <p:sp>
        <p:nvSpPr>
          <p:cNvPr id="11" name="Text 8"/>
          <p:cNvSpPr txBox="1"/>
          <p:nvPr/>
        </p:nvSpPr>
        <p:spPr>
          <a:xfrm>
            <a:off x="3771900" y="3322320"/>
            <a:ext cx="1943100" cy="2575560"/>
          </a:xfrm>
          <a:prstGeom prst="rect">
            <a:avLst/>
          </a:prstGeom>
          <a:noFill/>
          <a:ln/>
        </p:spPr>
        <p:txBody>
          <a:bodyPr wrap="square" lIns="0" tIns="0" rIns="0" bIns="0" rtlCol="0" anchor="t"/>
          <a:lstStyle/>
          <a:p>
            <a:pPr indent="0" marL="0">
              <a:buNone/>
            </a:pPr>
            <a:r>
              <a:rPr lang="en-US" sz="2800" dirty="0">
                <a:solidFill>
                  <a:schemeClr val="bg2"/>
                </a:solidFill>
              </a:rPr>
              <a:t>functionality.json</a:t>
            </a:r>
            <a:endParaRPr lang="en-US" sz="2800" dirty="0"/>
          </a:p>
        </p:txBody>
      </p:sp>
      <p:sp>
        <p:nvSpPr>
          <p:cNvPr id="12" name="Shape 9"/>
          <p:cNvSpPr/>
          <p:nvPr/>
        </p:nvSpPr>
        <p:spPr>
          <a:xfrm>
            <a:off x="6172200" y="2499360"/>
            <a:ext cx="2491740" cy="3627120"/>
          </a:xfrm>
          <a:prstGeom prst="roundRect">
            <a:avLst>
              <a:gd name="adj" fmla="val 4404"/>
            </a:avLst>
          </a:prstGeom>
          <a:solidFill>
            <a:schemeClr val="tx2"/>
          </a:solidFill>
          <a:ln w="12700">
            <a:solidFill>
              <a:srgbClr val="4A1A5E"/>
            </a:solidFill>
            <a:prstDash val="solid"/>
          </a:ln>
        </p:spPr>
      </p:sp>
      <p:sp>
        <p:nvSpPr>
          <p:cNvPr id="13" name="Text 10"/>
          <p:cNvSpPr txBox="1"/>
          <p:nvPr/>
        </p:nvSpPr>
        <p:spPr>
          <a:xfrm>
            <a:off x="6446520" y="2727960"/>
            <a:ext cx="194310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Per source</a:t>
            </a:r>
            <a:endParaRPr lang="en-US" sz="2200" dirty="0"/>
          </a:p>
        </p:txBody>
      </p:sp>
      <p:sp>
        <p:nvSpPr>
          <p:cNvPr id="14" name="Text 11"/>
          <p:cNvSpPr txBox="1"/>
          <p:nvPr/>
        </p:nvSpPr>
        <p:spPr>
          <a:xfrm>
            <a:off x="6446520" y="3322320"/>
            <a:ext cx="1943100" cy="2575560"/>
          </a:xfrm>
          <a:prstGeom prst="rect">
            <a:avLst/>
          </a:prstGeom>
          <a:noFill/>
          <a:ln/>
        </p:spPr>
        <p:txBody>
          <a:bodyPr wrap="square" lIns="0" tIns="0" rIns="0" bIns="0" rtlCol="0" anchor="t"/>
          <a:lstStyle/>
          <a:p>
            <a:pPr indent="0" marL="0">
              <a:buNone/>
            </a:pPr>
            <a:r>
              <a:rPr lang="en-US" sz="2800" dirty="0">
                <a:solidFill>
                  <a:schemeClr val="bg2"/>
                </a:solidFill>
              </a:rPr>
              <a:t>Breakdowns beside the headline</a:t>
            </a:r>
            <a:endParaRPr lang="en-US" sz="2800" dirty="0"/>
          </a:p>
        </p:txBody>
      </p:sp>
      <p:sp>
        <p:nvSpPr>
          <p:cNvPr id="15" name="Shape 12"/>
          <p:cNvSpPr/>
          <p:nvPr/>
        </p:nvSpPr>
        <p:spPr>
          <a:xfrm>
            <a:off x="8846820" y="2499360"/>
            <a:ext cx="2491740" cy="3627120"/>
          </a:xfrm>
          <a:prstGeom prst="roundRect">
            <a:avLst>
              <a:gd name="adj" fmla="val 4404"/>
            </a:avLst>
          </a:prstGeom>
          <a:solidFill>
            <a:schemeClr val="tx2"/>
          </a:solidFill>
          <a:ln w="12700">
            <a:solidFill>
              <a:srgbClr val="4A1A5E"/>
            </a:solidFill>
            <a:prstDash val="solid"/>
          </a:ln>
        </p:spPr>
      </p:sp>
      <p:sp>
        <p:nvSpPr>
          <p:cNvPr id="16" name="Text 13"/>
          <p:cNvSpPr txBox="1"/>
          <p:nvPr/>
        </p:nvSpPr>
        <p:spPr>
          <a:xfrm>
            <a:off x="9121140" y="2727960"/>
            <a:ext cx="194310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Gaps</a:t>
            </a:r>
            <a:endParaRPr lang="en-US" sz="2200" dirty="0"/>
          </a:p>
        </p:txBody>
      </p:sp>
      <p:sp>
        <p:nvSpPr>
          <p:cNvPr id="17" name="Text 14"/>
          <p:cNvSpPr txBox="1"/>
          <p:nvPr/>
        </p:nvSpPr>
        <p:spPr>
          <a:xfrm>
            <a:off x="9121140" y="3322320"/>
            <a:ext cx="1943100" cy="2575560"/>
          </a:xfrm>
          <a:prstGeom prst="rect">
            <a:avLst/>
          </a:prstGeom>
          <a:noFill/>
          <a:ln/>
        </p:spPr>
        <p:txBody>
          <a:bodyPr wrap="square" lIns="0" tIns="0" rIns="0" bIns="0" rtlCol="0" anchor="t"/>
          <a:lstStyle/>
          <a:p>
            <a:pPr indent="0" marL="0">
              <a:buNone/>
            </a:pPr>
            <a:r>
              <a:rPr lang="en-US" sz="2800" dirty="0">
                <a:solidFill>
                  <a:schemeClr val="bg2"/>
                </a:solidFill>
              </a:rPr>
              <a:t>docs/spacemacs_gaps.md</a:t>
            </a:r>
            <a:endParaRPr lang="en-US" sz="28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Where it comes from</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zmax / lineage</a:t>
            </a:r>
            <a:endParaRPr lang="en-US" sz="1200" dirty="0"/>
          </a:p>
        </p:txBody>
      </p:sp>
      <p:sp>
        <p:nvSpPr>
          <p:cNvPr id="5" name="Text 2"/>
          <p:cNvSpPr txBox="1"/>
          <p:nvPr/>
        </p:nvSpPr>
        <p:spPr>
          <a:xfrm>
            <a:off x="822960" y="1463040"/>
            <a:ext cx="10515600" cy="807720"/>
          </a:xfrm>
          <a:prstGeom prst="rect">
            <a:avLst/>
          </a:prstGeom>
          <a:noFill/>
          <a:ln/>
        </p:spPr>
        <p:txBody>
          <a:bodyPr wrap="square" lIns="0" tIns="0" rIns="0" bIns="0" rtlCol="0" anchor="t"/>
          <a:lstStyle/>
          <a:p>
            <a:pPr indent="0" marL="0">
              <a:buNone/>
            </a:pPr>
            <a:r>
              <a:rPr lang="en-US" sz="2400" dirty="0">
                <a:solidFill>
                  <a:schemeClr val="bg2"/>
                </a:solidFill>
              </a:rPr>
              <a:t>zmax is a fork of Helix, itself inspired by Kakoune and Neovim. Helix-derived files remain MPL-2.0.</a:t>
            </a:r>
            <a:endParaRPr lang="en-US" sz="2400" dirty="0"/>
          </a:p>
        </p:txBody>
      </p:sp>
      <p:sp>
        <p:nvSpPr>
          <p:cNvPr id="6" name="Shape 3"/>
          <p:cNvSpPr/>
          <p:nvPr/>
        </p:nvSpPr>
        <p:spPr>
          <a:xfrm>
            <a:off x="822960" y="2499360"/>
            <a:ext cx="2491740" cy="3627120"/>
          </a:xfrm>
          <a:prstGeom prst="roundRect">
            <a:avLst>
              <a:gd name="adj" fmla="val 4404"/>
            </a:avLst>
          </a:prstGeom>
          <a:solidFill>
            <a:schemeClr val="tx2"/>
          </a:solidFill>
          <a:ln w="12700">
            <a:solidFill>
              <a:srgbClr val="4A1A5E"/>
            </a:solidFill>
            <a:prstDash val="solid"/>
          </a:ln>
        </p:spPr>
      </p:sp>
      <p:sp>
        <p:nvSpPr>
          <p:cNvPr id="7" name="Text 4"/>
          <p:cNvSpPr txBox="1"/>
          <p:nvPr/>
        </p:nvSpPr>
        <p:spPr>
          <a:xfrm>
            <a:off x="1097280" y="2727960"/>
            <a:ext cx="19431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Upstream</a:t>
            </a:r>
            <a:endParaRPr lang="en-US" sz="2600" dirty="0"/>
          </a:p>
        </p:txBody>
      </p:sp>
      <p:sp>
        <p:nvSpPr>
          <p:cNvPr id="8" name="Text 5"/>
          <p:cNvSpPr txBox="1"/>
          <p:nvPr/>
        </p:nvSpPr>
        <p:spPr>
          <a:xfrm>
            <a:off x="1097280" y="3322320"/>
            <a:ext cx="1943100" cy="2575560"/>
          </a:xfrm>
          <a:prstGeom prst="rect">
            <a:avLst/>
          </a:prstGeom>
          <a:noFill/>
          <a:ln/>
        </p:spPr>
        <p:txBody>
          <a:bodyPr wrap="square" lIns="0" tIns="0" rIns="0" bIns="0" rtlCol="0" anchor="t"/>
          <a:lstStyle/>
          <a:p>
            <a:pPr indent="0" marL="0">
              <a:buNone/>
            </a:pPr>
            <a:r>
              <a:rPr lang="en-US" sz="2800" dirty="0">
                <a:solidFill>
                  <a:schemeClr val="bg2"/>
                </a:solidFill>
              </a:rPr>
              <a:t>Helix 25.7.1</a:t>
            </a:r>
            <a:endParaRPr lang="en-US" sz="2800" dirty="0"/>
          </a:p>
        </p:txBody>
      </p:sp>
      <p:sp>
        <p:nvSpPr>
          <p:cNvPr id="9" name="Shape 6"/>
          <p:cNvSpPr/>
          <p:nvPr/>
        </p:nvSpPr>
        <p:spPr>
          <a:xfrm>
            <a:off x="3497580" y="2499360"/>
            <a:ext cx="2491740" cy="3627120"/>
          </a:xfrm>
          <a:prstGeom prst="roundRect">
            <a:avLst>
              <a:gd name="adj" fmla="val 4404"/>
            </a:avLst>
          </a:prstGeom>
          <a:solidFill>
            <a:schemeClr val="tx2"/>
          </a:solidFill>
          <a:ln w="12700">
            <a:solidFill>
              <a:srgbClr val="4A1A5E"/>
            </a:solidFill>
            <a:prstDash val="solid"/>
          </a:ln>
        </p:spPr>
      </p:sp>
      <p:sp>
        <p:nvSpPr>
          <p:cNvPr id="10" name="Text 7"/>
          <p:cNvSpPr txBox="1"/>
          <p:nvPr/>
        </p:nvSpPr>
        <p:spPr>
          <a:xfrm>
            <a:off x="3771900" y="2727960"/>
            <a:ext cx="19431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Forked</a:t>
            </a:r>
            <a:endParaRPr lang="en-US" sz="2600" dirty="0"/>
          </a:p>
        </p:txBody>
      </p:sp>
      <p:sp>
        <p:nvSpPr>
          <p:cNvPr id="11" name="Text 8"/>
          <p:cNvSpPr txBox="1"/>
          <p:nvPr/>
        </p:nvSpPr>
        <p:spPr>
          <a:xfrm>
            <a:off x="3771900" y="3322320"/>
            <a:ext cx="1943100" cy="2575560"/>
          </a:xfrm>
          <a:prstGeom prst="rect">
            <a:avLst/>
          </a:prstGeom>
          <a:noFill/>
          <a:ln/>
        </p:spPr>
        <p:txBody>
          <a:bodyPr wrap="square" lIns="0" tIns="0" rIns="0" bIns="0" rtlCol="0" anchor="t"/>
          <a:lstStyle/>
          <a:p>
            <a:pPr indent="0" marL="0">
              <a:buNone/>
            </a:pPr>
            <a:r>
              <a:rPr lang="en-US" sz="2800" dirty="0">
                <a:solidFill>
                  <a:schemeClr val="bg2"/>
                </a:solidFill>
              </a:rPr>
              <a:t>2026-06-24</a:t>
            </a:r>
            <a:endParaRPr lang="en-US" sz="2800" dirty="0"/>
          </a:p>
        </p:txBody>
      </p:sp>
      <p:sp>
        <p:nvSpPr>
          <p:cNvPr id="12" name="Shape 9"/>
          <p:cNvSpPr/>
          <p:nvPr/>
        </p:nvSpPr>
        <p:spPr>
          <a:xfrm>
            <a:off x="6172200" y="2499360"/>
            <a:ext cx="2491740" cy="3627120"/>
          </a:xfrm>
          <a:prstGeom prst="roundRect">
            <a:avLst>
              <a:gd name="adj" fmla="val 4404"/>
            </a:avLst>
          </a:prstGeom>
          <a:solidFill>
            <a:schemeClr val="tx2"/>
          </a:solidFill>
          <a:ln w="12700">
            <a:solidFill>
              <a:srgbClr val="4A1A5E"/>
            </a:solidFill>
            <a:prstDash val="solid"/>
          </a:ln>
        </p:spPr>
      </p:sp>
      <p:sp>
        <p:nvSpPr>
          <p:cNvPr id="13" name="Text 10"/>
          <p:cNvSpPr txBox="1"/>
          <p:nvPr/>
        </p:nvSpPr>
        <p:spPr>
          <a:xfrm>
            <a:off x="6446520" y="2727960"/>
            <a:ext cx="19431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Licence</a:t>
            </a:r>
            <a:endParaRPr lang="en-US" sz="2600" dirty="0"/>
          </a:p>
        </p:txBody>
      </p:sp>
      <p:sp>
        <p:nvSpPr>
          <p:cNvPr id="14" name="Text 11"/>
          <p:cNvSpPr txBox="1"/>
          <p:nvPr/>
        </p:nvSpPr>
        <p:spPr>
          <a:xfrm>
            <a:off x="6446520" y="3322320"/>
            <a:ext cx="1943100" cy="2575560"/>
          </a:xfrm>
          <a:prstGeom prst="rect">
            <a:avLst/>
          </a:prstGeom>
          <a:noFill/>
          <a:ln/>
        </p:spPr>
        <p:txBody>
          <a:bodyPr wrap="square" lIns="0" tIns="0" rIns="0" bIns="0" rtlCol="0" anchor="t"/>
          <a:lstStyle/>
          <a:p>
            <a:pPr indent="0" marL="0">
              <a:buNone/>
            </a:pPr>
            <a:r>
              <a:rPr lang="en-US" sz="2800" dirty="0">
                <a:solidFill>
                  <a:schemeClr val="bg2"/>
                </a:solidFill>
              </a:rPr>
              <a:t>MPL-2.0</a:t>
            </a:r>
            <a:endParaRPr lang="en-US" sz="2800" dirty="0"/>
          </a:p>
        </p:txBody>
      </p:sp>
      <p:sp>
        <p:nvSpPr>
          <p:cNvPr id="15" name="Shape 12"/>
          <p:cNvSpPr/>
          <p:nvPr/>
        </p:nvSpPr>
        <p:spPr>
          <a:xfrm>
            <a:off x="8846820" y="2499360"/>
            <a:ext cx="2491740" cy="3627120"/>
          </a:xfrm>
          <a:prstGeom prst="roundRect">
            <a:avLst>
              <a:gd name="adj" fmla="val 4404"/>
            </a:avLst>
          </a:prstGeom>
          <a:solidFill>
            <a:schemeClr val="tx2"/>
          </a:solidFill>
          <a:ln w="12700">
            <a:solidFill>
              <a:srgbClr val="4A1A5E"/>
            </a:solidFill>
            <a:prstDash val="solid"/>
          </a:ln>
        </p:spPr>
      </p:sp>
      <p:sp>
        <p:nvSpPr>
          <p:cNvPr id="16" name="Text 13"/>
          <p:cNvSpPr txBox="1"/>
          <p:nvPr/>
        </p:nvSpPr>
        <p:spPr>
          <a:xfrm>
            <a:off x="9121140" y="2727960"/>
            <a:ext cx="19431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Lineage</a:t>
            </a:r>
            <a:endParaRPr lang="en-US" sz="2600" dirty="0"/>
          </a:p>
        </p:txBody>
      </p:sp>
      <p:sp>
        <p:nvSpPr>
          <p:cNvPr id="17" name="Text 14"/>
          <p:cNvSpPr txBox="1"/>
          <p:nvPr/>
        </p:nvSpPr>
        <p:spPr>
          <a:xfrm>
            <a:off x="9121140" y="3322320"/>
            <a:ext cx="1943100" cy="2575560"/>
          </a:xfrm>
          <a:prstGeom prst="rect">
            <a:avLst/>
          </a:prstGeom>
          <a:noFill/>
          <a:ln/>
        </p:spPr>
        <p:txBody>
          <a:bodyPr wrap="square" lIns="0" tIns="0" rIns="0" bIns="0" rtlCol="0" anchor="t"/>
          <a:lstStyle/>
          <a:p>
            <a:pPr indent="0" marL="0">
              <a:buNone/>
            </a:pPr>
            <a:r>
              <a:rPr lang="en-US" sz="2800" dirty="0">
                <a:solidFill>
                  <a:schemeClr val="bg2"/>
                </a:solidFill>
              </a:rPr>
              <a:t>Kakoune and Neovim</a:t>
            </a:r>
            <a:endParaRPr lang="en-US" sz="28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Help wanted</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zmax / contributing</a:t>
            </a:r>
            <a:endParaRPr lang="en-US" sz="1200" dirty="0"/>
          </a:p>
        </p:txBody>
      </p:sp>
      <p:sp>
        <p:nvSpPr>
          <p:cNvPr id="5" name="Text 2"/>
          <p:cNvSpPr txBox="1"/>
          <p:nvPr/>
        </p:nvSpPr>
        <p:spPr>
          <a:xfrm>
            <a:off x="822960" y="1463040"/>
            <a:ext cx="10515600" cy="426720"/>
          </a:xfrm>
          <a:prstGeom prst="rect">
            <a:avLst/>
          </a:prstGeom>
          <a:noFill/>
          <a:ln/>
        </p:spPr>
        <p:txBody>
          <a:bodyPr wrap="square" lIns="0" tIns="0" rIns="0" bIns="0" rtlCol="0" anchor="t"/>
          <a:lstStyle/>
          <a:p>
            <a:pPr indent="0" marL="0">
              <a:buNone/>
            </a:pPr>
            <a:r>
              <a:rPr lang="en-US" sz="2400" dirty="0">
                <a:solidFill>
                  <a:schemeClr val="bg2"/>
                </a:solidFill>
              </a:rPr>
              <a:t>Pick the smallest thing verifiable.</a:t>
            </a:r>
            <a:endParaRPr lang="en-US" sz="2400" dirty="0"/>
          </a:p>
        </p:txBody>
      </p:sp>
      <p:sp>
        <p:nvSpPr>
          <p:cNvPr id="6" name="Text 3"/>
          <p:cNvSpPr txBox="1"/>
          <p:nvPr/>
        </p:nvSpPr>
        <p:spPr>
          <a:xfrm>
            <a:off x="822960" y="2118360"/>
            <a:ext cx="10515600" cy="4008120"/>
          </a:xfrm>
          <a:prstGeom prst="rect">
            <a:avLst/>
          </a:prstGeom>
          <a:noFill/>
          <a:ln/>
        </p:spPr>
        <p:txBody>
          <a:bodyPr wrap="square" lIns="0" tIns="0" rIns="0" bIns="0" rtlCol="0" anchor="t"/>
          <a:lstStyle/>
          <a:p>
            <a:pPr marL="342900" indent="-342900">
              <a:spcAft>
                <a:spcPts val="1000"/>
              </a:spcAft>
              <a:buSzPct val="100000"/>
              <a:buChar char="•"/>
            </a:pPr>
            <a:r>
              <a:rPr lang="en-US" sz="3000" dirty="0">
                <a:solidFill>
                  <a:schemeClr val="bg2"/>
                </a:solidFill>
              </a:rPr>
              <a:t>Use it as your editor and report friction</a:t>
            </a:r>
            <a:endParaRPr lang="en-US" sz="3000" dirty="0"/>
          </a:p>
          <a:p>
            <a:pPr marL="342900" indent="-342900">
              <a:spcAft>
                <a:spcPts val="1000"/>
              </a:spcAft>
              <a:buSzPct val="100000"/>
              <a:buChar char="•"/>
            </a:pPr>
            <a:r>
              <a:rPr lang="en-US" sz="3000" dirty="0">
                <a:solidFill>
                  <a:schemeClr val="bg2"/>
                </a:solidFill>
              </a:rPr>
              <a:t>Run the port report and pick a partial capability</a:t>
            </a:r>
            <a:endParaRPr lang="en-US" sz="3000" dirty="0"/>
          </a:p>
          <a:p>
            <a:pPr marL="342900" indent="-342900">
              <a:spcAft>
                <a:spcPts val="1000"/>
              </a:spcAft>
              <a:buSzPct val="100000"/>
              <a:buChar char="•"/>
            </a:pPr>
            <a:r>
              <a:rPr lang="en-US" sz="3000" dirty="0">
                <a:solidFill>
                  <a:schemeClr val="bg2"/>
                </a:solidFill>
              </a:rPr>
              <a:t>Wire more of the refactoring surface</a:t>
            </a:r>
            <a:endParaRPr lang="en-US" sz="3000" dirty="0"/>
          </a:p>
          <a:p>
            <a:pPr marL="342900" indent="-342900">
              <a:spcAft>
                <a:spcPts val="1000"/>
              </a:spcAft>
              <a:buSzPct val="100000"/>
              <a:buChar char="•"/>
            </a:pPr>
            <a:r>
              <a:rPr lang="en-US" sz="3000" dirty="0">
                <a:solidFill>
                  <a:schemeClr val="bg2"/>
                </a:solidFill>
              </a:rPr>
              <a:t>Write a native plugin</a:t>
            </a:r>
            <a:endParaRPr lang="en-US" sz="3000" dirty="0"/>
          </a:p>
          <a:p>
            <a:pPr marL="342900" indent="-342900">
              <a:spcAft>
                <a:spcPts val="1000"/>
              </a:spcAft>
              <a:buSzPct val="100000"/>
              <a:buChar char="•"/>
            </a:pPr>
            <a:r>
              <a:rPr lang="en-US" sz="3000" dirty="0">
                <a:solidFill>
                  <a:schemeClr val="bg2"/>
                </a:solidFill>
              </a:rPr>
              <a:t>Open issues with keys and a buffer that reproduce</a:t>
            </a:r>
            <a:endParaRPr lang="en-US" sz="30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r>
              <a:rPr lang="en-US" sz="3600" b="1" dirty="0">
                <a:solidFill>
                  <a:schemeClr val="bg2"/>
                </a:solidFill>
              </a:rPr>
              <a:t>Install again</a:t>
            </a:r>
            <a:endParaRPr lang="en-US" sz="3600" dirty="0"/>
          </a:p>
        </p:txBody>
      </p:sp>
      <p:sp>
        <p:nvSpPr>
          <p:cNvPr id="3" name="Text 1"/>
          <p:cNvSpPr txBox="1"/>
          <p:nvPr/>
        </p:nvSpPr>
        <p:spPr>
          <a:xfrm>
            <a:off x="822960" y="626364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ourier New" pitchFamily="34" charset="0"/>
                <a:ea typeface="Courier New" pitchFamily="34" charset="-122"/>
                <a:cs typeface="Courier New" pitchFamily="34" charset="-120"/>
              </a:rPr>
              <a:t>zmax / install</a:t>
            </a:r>
            <a:endParaRPr lang="en-US" sz="1200" dirty="0"/>
          </a:p>
        </p:txBody>
      </p:sp>
      <p:sp>
        <p:nvSpPr>
          <p:cNvPr id="5" name="Text 2"/>
          <p:cNvSpPr txBox="1"/>
          <p:nvPr/>
        </p:nvSpPr>
        <p:spPr>
          <a:xfrm>
            <a:off x="822960" y="1463040"/>
            <a:ext cx="10515600" cy="426720"/>
          </a:xfrm>
          <a:prstGeom prst="rect">
            <a:avLst/>
          </a:prstGeom>
          <a:noFill/>
          <a:ln/>
        </p:spPr>
        <p:txBody>
          <a:bodyPr wrap="square" lIns="0" tIns="0" rIns="0" bIns="0" rtlCol="0" anchor="t"/>
          <a:lstStyle/>
          <a:p>
            <a:pPr indent="0" marL="0">
              <a:buNone/>
            </a:pPr>
            <a:r>
              <a:rPr lang="en-US" sz="2400" dirty="0">
                <a:solidFill>
                  <a:schemeClr val="bg2"/>
                </a:solidFill>
              </a:rPr>
              <a:t>Repost of the install, as promised.</a:t>
            </a:r>
            <a:endParaRPr lang="en-US" sz="2400" dirty="0"/>
          </a:p>
        </p:txBody>
      </p:sp>
      <p:sp>
        <p:nvSpPr>
          <p:cNvPr id="6" name="Shape 3"/>
          <p:cNvSpPr/>
          <p:nvPr/>
        </p:nvSpPr>
        <p:spPr>
          <a:xfrm>
            <a:off x="822960" y="2118360"/>
            <a:ext cx="10515600" cy="1513840"/>
          </a:xfrm>
          <a:prstGeom prst="roundRect">
            <a:avLst>
              <a:gd name="adj" fmla="val 7248"/>
            </a:avLst>
          </a:prstGeom>
          <a:solidFill>
            <a:schemeClr val="tx2"/>
          </a:solidFill>
          <a:ln w="12700">
            <a:solidFill>
              <a:srgbClr val="4A1A5E"/>
            </a:solidFill>
            <a:prstDash val="solid"/>
          </a:ln>
        </p:spPr>
      </p:sp>
      <p:sp>
        <p:nvSpPr>
          <p:cNvPr id="7" name="Text 4"/>
          <p:cNvSpPr txBox="1"/>
          <p:nvPr/>
        </p:nvSpPr>
        <p:spPr>
          <a:xfrm>
            <a:off x="1143000" y="2346960"/>
            <a:ext cx="9875520" cy="1056640"/>
          </a:xfrm>
          <a:prstGeom prst="rect">
            <a:avLst/>
          </a:prstGeom>
          <a:noFill/>
          <a:ln/>
        </p:spPr>
        <p:txBody>
          <a:bodyPr wrap="square" lIns="0" tIns="0" rIns="0" bIns="0" rtlCol="0" anchor="t"/>
          <a:lstStyle/>
          <a:p>
            <a:pPr indent="0" marL="0">
              <a:lnSpc>
                <a:spcPct val="125000"/>
              </a:lnSpc>
              <a:buNone/>
            </a:pPr>
            <a:r>
              <a:rPr lang="en-US" sz="2600" dirty="0">
                <a:solidFill>
                  <a:schemeClr val="accent1"/>
                </a:solidFill>
                <a:latin typeface="Courier New" pitchFamily="34" charset="0"/>
                <a:ea typeface="Courier New" pitchFamily="34" charset="-122"/>
                <a:cs typeface="Courier New" pitchFamily="34" charset="-120"/>
              </a:rPr>
              <a:t>brew install MenkeTechnologies/menketech/zmax</a:t>
            </a:r>
            <a:endParaRPr lang="en-US" sz="2600" dirty="0"/>
          </a:p>
          <a:p>
            <a:pPr indent="0" marL="0">
              <a:lnSpc>
                <a:spcPct val="125000"/>
              </a:lnSpc>
              <a:buNone/>
            </a:pPr>
            <a:r>
              <a:rPr lang="en-US" sz="2600" dirty="0">
                <a:solidFill>
                  <a:schemeClr val="accent1"/>
                </a:solidFill>
                <a:latin typeface="Courier New" pitchFamily="34" charset="0"/>
                <a:ea typeface="Courier New" pitchFamily="34" charset="-122"/>
                <a:cs typeface="Courier New" pitchFamily="34" charset="-120"/>
              </a:rPr>
              <a:t>zmax -g fetch &amp;&amp; zmax -g build</a:t>
            </a:r>
            <a:endParaRPr lang="en-US" sz="26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3" name="Image 0" descr="/private/tmp/claude-501/-Users-wizard-RustroverProjects-zshrs/2555d359-9a79-4736-9207-869cc21577b1/scratchpad/zmax_logo/logo-mark.png">    </p:cNvPr>
          <p:cNvPicPr>
            <a:picLocks noChangeAspect="1"/>
          </p:cNvPicPr>
          <p:nvPr/>
        </p:nvPicPr>
        <p:blipFill>
          <a:blip r:embed="rId1"/>
          <a:stretch>
            <a:fillRect/>
          </a:stretch>
        </p:blipFill>
        <p:spPr>
          <a:xfrm>
            <a:off x="822960" y="822960"/>
            <a:ext cx="2011680" cy="2011680"/>
          </a:xfrm>
          <a:prstGeom prst="rect">
            <a:avLst/>
          </a:prstGeom>
        </p:spPr>
      </p:pic>
      <p:sp>
        <p:nvSpPr>
          <p:cNvPr id="4" name="Text 0"/>
          <p:cNvSpPr txBox="1"/>
          <p:nvPr/>
        </p:nvSpPr>
        <p:spPr>
          <a:xfrm>
            <a:off x="822960" y="3200400"/>
            <a:ext cx="10515600" cy="1280160"/>
          </a:xfrm>
          <a:prstGeom prst="rect">
            <a:avLst/>
          </a:prstGeom>
          <a:noFill/>
          <a:ln/>
        </p:spPr>
        <p:txBody>
          <a:bodyPr wrap="square" lIns="0" tIns="0" rIns="0" bIns="0" rtlCol="0" anchor="t"/>
          <a:lstStyle/>
          <a:p>
            <a:pPr indent="0" marL="0">
              <a:buNone/>
            </a:pPr>
            <a:r>
              <a:rPr lang="en-US" sz="6000" b="1" dirty="0">
                <a:solidFill>
                  <a:schemeClr val="bg2"/>
                </a:solidFill>
                <a:latin typeface="Cambria" pitchFamily="34" charset="0"/>
                <a:ea typeface="Cambria" pitchFamily="34" charset="-122"/>
                <a:cs typeface="Cambria" pitchFamily="34" charset="-120"/>
              </a:rPr>
              <a:t>Questions</a:t>
            </a:r>
            <a:endParaRPr lang="en-US" sz="6000" dirty="0"/>
          </a:p>
        </p:txBody>
      </p:sp>
      <p:sp>
        <p:nvSpPr>
          <p:cNvPr id="5" name="Text 1"/>
          <p:cNvSpPr txBox="1"/>
          <p:nvPr/>
        </p:nvSpPr>
        <p:spPr>
          <a:xfrm>
            <a:off x="822960" y="4754880"/>
            <a:ext cx="10515600" cy="548640"/>
          </a:xfrm>
          <a:prstGeom prst="rect">
            <a:avLst/>
          </a:prstGeom>
          <a:noFill/>
          <a:ln/>
        </p:spPr>
        <p:txBody>
          <a:bodyPr wrap="square" lIns="0" tIns="0" rIns="0" bIns="0" rtlCol="0" anchor="t"/>
          <a:lstStyle/>
          <a:p>
            <a:pPr indent="0" marL="0">
              <a:buNone/>
            </a:pPr>
            <a:r>
              <a:rPr lang="en-US" sz="2200" dirty="0">
                <a:solidFill>
                  <a:schemeClr val="accent5"/>
                </a:solidFill>
                <a:latin typeface="Courier New" pitchFamily="34" charset="0"/>
                <a:ea typeface="Courier New" pitchFamily="34" charset="-122"/>
                <a:cs typeface="Courier New" pitchFamily="34" charset="-120"/>
              </a:rPr>
              <a:t>github.com/MenkeTechnologies/zmax</a:t>
            </a:r>
            <a:endParaRPr lang="en-US" sz="2200" dirty="0"/>
          </a:p>
        </p:txBody>
      </p:sp>
      <p:sp>
        <p:nvSpPr>
          <p:cNvPr id="6" name="Text 0"/>
          <p:cNvSpPr/>
          <p:nvPr>
            <p:ph idx="101" type="title" hasCustomPrompt="1"/>
          </p:nvPr>
        </p:nvSpPr>
        <p:spPr>
          <a:xfrm>
            <a:off x="822960" y="457200"/>
            <a:ext cx="10515600" cy="91440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0972800" y="626364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Courier New"/>
                <a:ea typeface="Courier New"/>
                <a:cs typeface="Courier New"/>
              </a:defRPr>
            </a:lvl1pPr>
          </a:lstStyle>
          <a:p>
            <a:pPr algn="r"/>
            <a:fld id="{F7021451-1387-4CA6-816F-3879F97B5CBC}" type="slidenum">
              <a:rPr b="0" lang="en-US"/>
              <a:t>26</a:t>
            </a:fld>
            <a:endParaRPr lang="en-US"/>
          </a:p>
        </p:txBody>
      </p:sp>
    </p:spTree>
  </p:cSld>
  <p:clrMapOvr>
    <a:masterClrMapping/>
  </p:clrMapOvr>
</p:sld>
</file>

<file path=ppt/theme/theme1.xml><?xml version="1.0" encoding="utf-8"?>
<a:theme xmlns:a="http://schemas.openxmlformats.org/drawingml/2006/main" name="zshrs talk">
  <a:themeElements>
    <a:clrScheme name="zshrs talk">
      <a:dk1>
        <a:srgbClr val="05050A"/>
      </a:dk1>
      <a:lt1>
        <a:srgbClr val="0D0A1E"/>
      </a:lt1>
      <a:dk2>
        <a:srgbClr val="11112A"/>
      </a:dk2>
      <a:lt2>
        <a:srgbClr val="E6F4FF"/>
      </a:lt2>
      <a:accent1>
        <a:srgbClr val="05D9E8"/>
      </a:accent1>
      <a:accent2>
        <a:srgbClr val="05D9E8"/>
      </a:accent2>
      <a:accent3>
        <a:srgbClr val="FF2A6D"/>
      </a:accent3>
      <a:accent4>
        <a:srgbClr val="D300C5"/>
      </a:accent4>
      <a:accent5>
        <a:srgbClr val="9A9AB8"/>
      </a:accent5>
      <a:accent6>
        <a:srgbClr val="6A6A8C"/>
      </a:accent6>
      <a:hlink>
        <a:srgbClr val="05D9E8"/>
      </a:hlink>
      <a:folHlink>
        <a:srgbClr val="9A9AB8"/>
      </a:folHlink>
    </a:clrScheme>
    <a:fontScheme name="zshrs tal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zmax</dc:title>
  <dc:subject>PptxGenJS Presentation</dc:subject>
  <dc:creator>PptxGenJS</dc:creator>
  <cp:lastModifiedBy>PptxGenJS</cp:lastModifiedBy>
  <cp:revision>1</cp:revision>
  <dcterms:created xsi:type="dcterms:W3CDTF">2026-10-10T01:18:10Z</dcterms:created>
  <dcterms:modified xsi:type="dcterms:W3CDTF">2026-10-10T01:18:10Z</dcterms:modified>
</cp:coreProperties>
</file>